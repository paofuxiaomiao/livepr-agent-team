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cd2af686dc45dc" /><Relationship Type="http://schemas.openxmlformats.org/officeDocument/2006/relationships/extended-properties" Target="/docProps/app.xml" Id="R9ede73918a49443e" /><Relationship Type="http://schemas.openxmlformats.org/officeDocument/2006/relationships/officeDocument" Target="/ppt/presentation.xml" Id="R1677d029300842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aa62ab56dd4543"/>
    <p:sldMasterId xmlns:r="http://schemas.openxmlformats.org/officeDocument/2006/relationships" id="2147483650" r:id="R02b7b060b64a4413"/>
  </p:sldMasterIdLst>
  <p:notesMasterIdLst>
    <p:notesMasterId xmlns:r="http://schemas.openxmlformats.org/officeDocument/2006/relationships" r:id="R719690772fc8440f"/>
  </p:notesMasterIdLst>
  <p:sldIdLst>
    <p:sldId xmlns:r="http://schemas.openxmlformats.org/officeDocument/2006/relationships" id="256" r:id="Rac2dc27617894366"/>
    <p:sldId xmlns:r="http://schemas.openxmlformats.org/officeDocument/2006/relationships" id="257" r:id="Rb62d3bc52b824b10"/>
    <p:sldId xmlns:r="http://schemas.openxmlformats.org/officeDocument/2006/relationships" id="258" r:id="R41f2cf02724f4b75"/>
    <p:sldId xmlns:r="http://schemas.openxmlformats.org/officeDocument/2006/relationships" id="259" r:id="R30436034de8448b5"/>
    <p:sldId xmlns:r="http://schemas.openxmlformats.org/officeDocument/2006/relationships" id="260" r:id="R9cb67e3c3f0043a6"/>
    <p:sldId xmlns:r="http://schemas.openxmlformats.org/officeDocument/2006/relationships" id="261" r:id="Re2bc03872b2d4e92"/>
    <p:sldId xmlns:r="http://schemas.openxmlformats.org/officeDocument/2006/relationships" id="262" r:id="R27e4e31f7dc5411f"/>
    <p:sldId xmlns:r="http://schemas.openxmlformats.org/officeDocument/2006/relationships" id="263" r:id="Rea0c0a99a655418b"/>
    <p:sldId xmlns:r="http://schemas.openxmlformats.org/officeDocument/2006/relationships" id="264" r:id="R39a3d5e530da435e"/>
    <p:sldId xmlns:r="http://schemas.openxmlformats.org/officeDocument/2006/relationships" id="265" r:id="R8208ff406ffa49b4"/>
    <p:sldId xmlns:r="http://schemas.openxmlformats.org/officeDocument/2006/relationships" id="266" r:id="Ra53b2e7a8f9042e2"/>
    <p:sldId xmlns:r="http://schemas.openxmlformats.org/officeDocument/2006/relationships" id="267" r:id="Rb340c3878cef4d26"/>
    <p:sldId xmlns:r="http://schemas.openxmlformats.org/officeDocument/2006/relationships" id="268" r:id="Rf1a393be76f94557"/>
    <p:sldId xmlns:r="http://schemas.openxmlformats.org/officeDocument/2006/relationships" id="269" r:id="Rf8015d6180c84d3a"/>
    <p:sldId xmlns:r="http://schemas.openxmlformats.org/officeDocument/2006/relationships" id="270" r:id="Rb7571b857cb54cf6"/>
    <p:sldId xmlns:r="http://schemas.openxmlformats.org/officeDocument/2006/relationships" id="271" r:id="Re912cdce88684852"/>
    <p:sldId xmlns:r="http://schemas.openxmlformats.org/officeDocument/2006/relationships" id="272" r:id="R239be5790bfd4807"/>
    <p:sldId xmlns:r="http://schemas.openxmlformats.org/officeDocument/2006/relationships" id="273" r:id="R5aa5114d87f248e2"/>
    <p:sldId xmlns:r="http://schemas.openxmlformats.org/officeDocument/2006/relationships" id="274" r:id="Rd6abdd4ef61e4194"/>
    <p:sldId xmlns:r="http://schemas.openxmlformats.org/officeDocument/2006/relationships" id="275" r:id="Rd337803597e349d2"/>
    <p:sldId xmlns:r="http://schemas.openxmlformats.org/officeDocument/2006/relationships" id="276" r:id="R43cee1d99c3f4b1d"/>
    <p:sldId xmlns:r="http://schemas.openxmlformats.org/officeDocument/2006/relationships" id="277" r:id="R1c2ade22058b45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0277bd3a3c457b" /><Relationship Type="http://schemas.openxmlformats.org/officeDocument/2006/relationships/slideMaster" Target="/ppt/slideMasters/slideMaster1.xml" Id="Rd2aa62ab56dd4543" /><Relationship Type="http://schemas.openxmlformats.org/officeDocument/2006/relationships/slideMaster" Target="/ppt/slideMasters/slideMaster2.xml" Id="R02b7b060b64a4413" /><Relationship Type="http://schemas.openxmlformats.org/officeDocument/2006/relationships/notesMaster" Target="/ppt/notesMasters/notesMaster1.xml" Id="R719690772fc8440f" /><Relationship Type="http://schemas.openxmlformats.org/officeDocument/2006/relationships/presProps" Target="/ppt/presProps.xml" Id="R36d72454cd3e4a7e" /><Relationship Type="http://schemas.openxmlformats.org/officeDocument/2006/relationships/viewProps" Target="/ppt/viewProps.xml" Id="R89cda512c9644753" /><Relationship Type="http://schemas.openxmlformats.org/officeDocument/2006/relationships/tableStyles" Target="/ppt/tableStyles.xml" Id="Re5f3e8753fe14a2e" /><Relationship Type="http://schemas.openxmlformats.org/officeDocument/2006/relationships/slide" Target="/ppt/slides/slide1.xml" Id="Rac2dc27617894366" /><Relationship Type="http://schemas.openxmlformats.org/officeDocument/2006/relationships/slide" Target="/ppt/slides/slide2.xml" Id="Rb62d3bc52b824b10" /><Relationship Type="http://schemas.openxmlformats.org/officeDocument/2006/relationships/slide" Target="/ppt/slides/slide3.xml" Id="R41f2cf02724f4b75" /><Relationship Type="http://schemas.openxmlformats.org/officeDocument/2006/relationships/slide" Target="/ppt/slides/slide4.xml" Id="R30436034de8448b5" /><Relationship Type="http://schemas.openxmlformats.org/officeDocument/2006/relationships/slide" Target="/ppt/slides/slide5.xml" Id="R9cb67e3c3f0043a6" /><Relationship Type="http://schemas.openxmlformats.org/officeDocument/2006/relationships/slide" Target="/ppt/slides/slide6.xml" Id="Re2bc03872b2d4e92" /><Relationship Type="http://schemas.openxmlformats.org/officeDocument/2006/relationships/slide" Target="/ppt/slides/slide7.xml" Id="R27e4e31f7dc5411f" /><Relationship Type="http://schemas.openxmlformats.org/officeDocument/2006/relationships/slide" Target="/ppt/slides/slide8.xml" Id="Rea0c0a99a655418b" /><Relationship Type="http://schemas.openxmlformats.org/officeDocument/2006/relationships/slide" Target="/ppt/slides/slide9.xml" Id="R39a3d5e530da435e" /><Relationship Type="http://schemas.openxmlformats.org/officeDocument/2006/relationships/slide" Target="/ppt/slides/slide10.xml" Id="R8208ff406ffa49b4" /><Relationship Type="http://schemas.openxmlformats.org/officeDocument/2006/relationships/slide" Target="/ppt/slides/slide11.xml" Id="Ra53b2e7a8f9042e2" /><Relationship Type="http://schemas.openxmlformats.org/officeDocument/2006/relationships/slide" Target="/ppt/slides/slide12.xml" Id="Rb340c3878cef4d26" /><Relationship Type="http://schemas.openxmlformats.org/officeDocument/2006/relationships/slide" Target="/ppt/slides/slide13.xml" Id="Rf1a393be76f94557" /><Relationship Type="http://schemas.openxmlformats.org/officeDocument/2006/relationships/slide" Target="/ppt/slides/slide14.xml" Id="Rf8015d6180c84d3a" /><Relationship Type="http://schemas.openxmlformats.org/officeDocument/2006/relationships/slide" Target="/ppt/slides/slide15.xml" Id="Rb7571b857cb54cf6" /><Relationship Type="http://schemas.openxmlformats.org/officeDocument/2006/relationships/slide" Target="/ppt/slides/slide16.xml" Id="Re912cdce88684852" /><Relationship Type="http://schemas.openxmlformats.org/officeDocument/2006/relationships/slide" Target="/ppt/slides/slide17.xml" Id="R239be5790bfd4807" /><Relationship Type="http://schemas.openxmlformats.org/officeDocument/2006/relationships/slide" Target="/ppt/slides/slide18.xml" Id="R5aa5114d87f248e2" /><Relationship Type="http://schemas.openxmlformats.org/officeDocument/2006/relationships/slide" Target="/ppt/slides/slide19.xml" Id="Rd6abdd4ef61e4194" /><Relationship Type="http://schemas.openxmlformats.org/officeDocument/2006/relationships/slide" Target="/ppt/slides/slide20.xml" Id="Rd337803597e349d2" /><Relationship Type="http://schemas.openxmlformats.org/officeDocument/2006/relationships/slide" Target="/ppt/slides/slide21.xml" Id="R43cee1d99c3f4b1d" /><Relationship Type="http://schemas.openxmlformats.org/officeDocument/2006/relationships/slide" Target="/ppt/slides/slide22.xml" Id="R1c2ade22058b45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9e3c9b9687b4a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c2738418c24051" /><Relationship Type="http://schemas.openxmlformats.org/officeDocument/2006/relationships/notesMaster" Target="/ppt/notesMasters/notesMaster1.xml" Id="R1bf68b2b609b49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a42ec7342b458e" /><Relationship Type="http://schemas.openxmlformats.org/officeDocument/2006/relationships/notesMaster" Target="/ppt/notesMasters/notesMaster1.xml" Id="Ra1202bad095549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2bafdaae1a44b4" /><Relationship Type="http://schemas.openxmlformats.org/officeDocument/2006/relationships/notesMaster" Target="/ppt/notesMasters/notesMaster1.xml" Id="R394d0b831a194d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20b7e704224f45" /><Relationship Type="http://schemas.openxmlformats.org/officeDocument/2006/relationships/notesMaster" Target="/ppt/notesMasters/notesMaster1.xml" Id="R32ad41ee89574f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db261d29bd4ecd" /><Relationship Type="http://schemas.openxmlformats.org/officeDocument/2006/relationships/notesMaster" Target="/ppt/notesMasters/notesMaster1.xml" Id="Rd455e5a95df84a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ef9eb7e52244eb" /><Relationship Type="http://schemas.openxmlformats.org/officeDocument/2006/relationships/notesMaster" Target="/ppt/notesMasters/notesMaster1.xml" Id="R5b36b7c96dd54f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d5936375ed46a8" /><Relationship Type="http://schemas.openxmlformats.org/officeDocument/2006/relationships/notesMaster" Target="/ppt/notesMasters/notesMaster1.xml" Id="R230e260d74904d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d5ac9993d64411" /><Relationship Type="http://schemas.openxmlformats.org/officeDocument/2006/relationships/notesMaster" Target="/ppt/notesMasters/notesMaster1.xml" Id="Redb34924171e44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24cd5c3061420e" /><Relationship Type="http://schemas.openxmlformats.org/officeDocument/2006/relationships/notesMaster" Target="/ppt/notesMasters/notesMaster1.xml" Id="Rdf324b6a69bb4e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8e2525b6e443ad" /><Relationship Type="http://schemas.openxmlformats.org/officeDocument/2006/relationships/notesMaster" Target="/ppt/notesMasters/notesMaster1.xml" Id="Re02d377ae9d14b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2425dda5db4a23" /><Relationship Type="http://schemas.openxmlformats.org/officeDocument/2006/relationships/notesMaster" Target="/ppt/notesMasters/notesMaster1.xml" Id="R84898fb808e542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d69b69458a4eb5" /><Relationship Type="http://schemas.openxmlformats.org/officeDocument/2006/relationships/notesMaster" Target="/ppt/notesMasters/notesMaster1.xml" Id="Rbb243687e1c646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de01aac93614a3e" /><Relationship Type="http://schemas.openxmlformats.org/officeDocument/2006/relationships/notesMaster" Target="/ppt/notesMasters/notesMaster1.xml" Id="R748335ec44b740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9b923d79664254" /><Relationship Type="http://schemas.openxmlformats.org/officeDocument/2006/relationships/notesMaster" Target="/ppt/notesMasters/notesMaster1.xml" Id="Re01699f2e7d748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589739edc74957" /><Relationship Type="http://schemas.openxmlformats.org/officeDocument/2006/relationships/notesMaster" Target="/ppt/notesMasters/notesMaster1.xml" Id="Rdaaee9f9bd2044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ce3b93e1c1740dd" /><Relationship Type="http://schemas.openxmlformats.org/officeDocument/2006/relationships/notesMaster" Target="/ppt/notesMasters/notesMaster1.xml" Id="R1640739dfc444ad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da6019ea4d54c35" /><Relationship Type="http://schemas.openxmlformats.org/officeDocument/2006/relationships/notesMaster" Target="/ppt/notesMasters/notesMaster1.xml" Id="Rd1050fcd7d524f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7d94d5f0e24c93" /><Relationship Type="http://schemas.openxmlformats.org/officeDocument/2006/relationships/notesMaster" Target="/ppt/notesMasters/notesMaster1.xml" Id="R0da614d2397346d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440029317964e45" /><Relationship Type="http://schemas.openxmlformats.org/officeDocument/2006/relationships/notesMaster" Target="/ppt/notesMasters/notesMaster1.xml" Id="R78b85b39f7da4d3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0d203e51e614395" /><Relationship Type="http://schemas.openxmlformats.org/officeDocument/2006/relationships/notesMaster" Target="/ppt/notesMasters/notesMaster1.xml" Id="R0df64a233eea49f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f9ff6d1dfa469e" /><Relationship Type="http://schemas.openxmlformats.org/officeDocument/2006/relationships/notesMaster" Target="/ppt/notesMasters/notesMaster1.xml" Id="R57c2c91d39b243b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de1aa2c8e914e51" /><Relationship Type="http://schemas.openxmlformats.org/officeDocument/2006/relationships/notesMaster" Target="/ppt/notesMasters/notesMaster1.xml" Id="Ra1298c51426b41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[User-provided scenario]</a:t>
            </a:r>
            <a:endParaRPr/>
          </a:p>
          <a:p xmlns:a="http://schemas.openxmlformats.org/drawingml/2006/main">
            <a:r>
              <a:t>- 一次活动中，嘉宾临时说出未经许可的内容，影响活动正常举行；用户希望用 AI 实时监控舆情并生成可挽回的主持台词。</a:t>
            </a:r>
            <a:endParaRPr/>
          </a:p>
          <a:p xmlns:a="http://schemas.openxmlformats.org/drawingml/2006/main">
            <a:r>
              <a:t>[/User-provided scenario]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https://www.goaihz.com/tracks?track=infra&amp;channel=dw6</a:t>
            </a:r>
          </a:p>
          <a:p xmlns:a="http://schemas.openxmlformats.org/drawingml/2006/main">
            <a:r>
              <a:t>- https://www.goaihz.com/guide</a:t>
            </a:r>
          </a:p>
          <a:p xmlns:a="http://schemas.openxmlformats.org/drawingml/2006/main">
            <a:r>
              <a:t>- https://github.com/agentscope-ai/AgentTeams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[User-provided scenario]</a:t>
            </a:r>
          </a:p>
          <a:p xmlns:a="http://schemas.openxmlformats.org/drawingml/2006/main">
            <a:r>
              <a:t>- 一次活动中，嘉宾临时说出未经许可的内容，影响活动正常举行；用户希望用 AI 实时监控舆情并生成可挽回的主持台词。</a:t>
            </a:r>
          </a:p>
          <a:p xmlns:a="http://schemas.openxmlformats.org/drawingml/2006/main">
            <a:r>
              <a:t>[/User-provided scenario]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  <a:p xmlns:a="http://schemas.openxmlformats.org/drawingml/2006/main">
            <a:r>
              <a:t>[User-provided scenario]</a:t>
            </a:r>
            <a:endParaRPr/>
          </a:p>
          <a:p xmlns:a="http://schemas.openxmlformats.org/drawingml/2006/main">
            <a:r>
              <a:t>- 一次活动中，嘉宾临时说出未经许可的内容，影响活动正常举行；用户希望用 AI 实时监控舆情并生成可挽回的主持台词。</a:t>
            </a:r>
            <a:endParaRPr/>
          </a:p>
          <a:p xmlns:a="http://schemas.openxmlformats.org/drawingml/2006/main">
            <a:r>
              <a:t>[/User-provided scenario]</a:t>
            </a:r>
            <a:endParaRPr/>
          </a:p>
          <a:p xmlns:a="http://schemas.openxmlformats.org/drawingml/2006/main">
            <a:r>
              <a:t>[Local evidence]</a:t>
            </a:r>
            <a:endParaRPr/>
          </a:p>
          <a:p xmlns:a="http://schemas.openxmlformats.org/drawingml/2006/main">
            <a:r>
              <a:t>- livepr-mvp/evidence/VERIFICATION.md</a:t>
            </a:r>
            <a:endParaRPr/>
          </a:p>
          <a:p xmlns:a="http://schemas.openxmlformats.org/drawingml/2006/main">
            <a:r>
              <a:t>- livepr-mvp/evidence/verified-product-delay/result.json</a:t>
            </a:r>
            <a:endParaRPr/>
          </a:p>
          <a:p xmlns:a="http://schemas.openxmlformats.org/drawingml/2006/main">
            <a:r>
              <a:t>- livepr-mvp/evidence/verified-awaiting-approval/result.json</a:t>
            </a:r>
            <a:endParaRPr/>
          </a:p>
          <a:p xmlns:a="http://schemas.openxmlformats.org/drawingml/2006/main">
            <a:r>
              <a:t>- livepr-mvp/evidence/verified-http/result.json</a:t>
            </a:r>
            <a:endParaRPr/>
          </a:p>
          <a:p xmlns:a="http://schemas.openxmlformats.org/drawingml/2006/main">
            <a:r>
              <a:t>- livepr-mvp/tests/test_livepr.py</a:t>
            </a:r>
            <a:endParaRPr/>
          </a:p>
          <a:p xmlns:a="http://schemas.openxmlformats.org/drawingml/2006/main">
            <a:r>
              <a:t>[/Local evidence]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https://www.goaihz.com/tracks?track=infra&amp;channel=dw6</a:t>
            </a:r>
            <a:endParaRPr/>
          </a:p>
          <a:p xmlns:a="http://schemas.openxmlformats.org/drawingml/2006/main">
            <a:r>
              <a:t>- https://www.goaihz.com/guide</a:t>
            </a:r>
            <a:endParaRPr/>
          </a:p>
          <a:p xmlns:a="http://schemas.openxmlformats.org/drawingml/2006/main">
            <a:r>
              <a:t>- https://github.com/agentscope-ai/AgentTeams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https://www.goaihz.com/tracks?track=infra&amp;channel=dw6</a:t>
            </a:r>
          </a:p>
          <a:p xmlns:a="http://schemas.openxmlformats.org/drawingml/2006/main">
            <a:r>
              <a:t>- https://www.goaihz.com/guide</a:t>
            </a:r>
          </a:p>
          <a:p xmlns:a="http://schemas.openxmlformats.org/drawingml/2006/main">
            <a:r>
              <a:t>- https://github.com/agentscope-ai/AgentTeams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[Team information sources]</a:t>
            </a:r>
          </a:p>
          <a:p xmlns:a="http://schemas.openxmlformats.org/drawingml/2006/main">
            <a:r>
              <a:t>- 用户提供：附件 应用场景信息表_8项目分类版.docx</a:t>
            </a:r>
          </a:p>
          <a:p xmlns:a="http://schemas.openxmlformats.org/drawingml/2006/main">
            <a:r>
              <a:t>- https://github.com/paofuxiaomiao/escape-lev0</a:t>
            </a:r>
          </a:p>
          <a:p xmlns:a="http://schemas.openxmlformats.org/drawingml/2006/main">
            <a:r>
              <a:t>- 用户确认：团队人数 3 人；扶瑀琪、欧阳劲汝、张佳佳的背景与分工；逃离 LEV0 获黑客松冠军</a:t>
            </a:r>
          </a:p>
          <a:p xmlns:a="http://schemas.openxmlformats.org/drawingml/2006/main">
            <a:r>
              <a:t>[/Team information 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https://www.goaihz.com/tracks?track=infra&amp;channel=dw6</a:t>
            </a:r>
          </a:p>
          <a:p xmlns:a="http://schemas.openxmlformats.org/drawingml/2006/main">
            <a:r>
              <a:t>- https://www.goaihz.com/guide</a:t>
            </a:r>
          </a:p>
          <a:p xmlns:a="http://schemas.openxmlformats.org/drawingml/2006/main">
            <a:r>
              <a:t>- https://github.com/agentscope-ai/AgentTeams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[Team achievement sources]</a:t>
            </a:r>
          </a:p>
          <a:p xmlns:a="http://schemas.openxmlformats.org/drawingml/2006/main">
            <a:r>
              <a:t>- 用户提供：张佳佳竞赛获奖、实习经历、技能训练信息</a:t>
            </a:r>
          </a:p>
          <a:p xmlns:a="http://schemas.openxmlformats.org/drawingml/2006/main">
            <a:r>
              <a:t>- 用户提供：附件 应用场景信息表_8项目分类版.docx</a:t>
            </a:r>
          </a:p>
          <a:p xmlns:a="http://schemas.openxmlformats.org/drawingml/2006/main">
            <a:r>
              <a:t>- https://github.com/paofuxiaomiao/escape-lev0</a:t>
            </a:r>
          </a:p>
          <a:p xmlns:a="http://schemas.openxmlformats.org/drawingml/2006/main">
            <a:r>
              <a:t>[/Team achievement 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https://www.goaihz.com/tracks?track=infra&amp;channel=dw6</a:t>
            </a:r>
          </a:p>
          <a:p xmlns:a="http://schemas.openxmlformats.org/drawingml/2006/main">
            <a:r>
              <a:t>- https://www.goaihz.com/guide</a:t>
            </a:r>
          </a:p>
          <a:p xmlns:a="http://schemas.openxmlformats.org/drawingml/2006/main">
            <a:r>
              <a:t>- https://github.com/agentscope-ai/AgentTeams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[Project portfolio sources]</a:t>
            </a:r>
          </a:p>
          <a:p xmlns:a="http://schemas.openxmlformats.org/drawingml/2006/main">
            <a:r>
              <a:t>- 用户提供：附件 应用场景信息表_8项目分类版.docx（OPC/FDE个人能力地图与成果评价平台、湖南省农耕文化地图、湘超数字地图、AI旅拍内容优选与旅行纪念册制作）</a:t>
            </a:r>
          </a:p>
          <a:p xmlns:a="http://schemas.openxmlformats.org/drawingml/2006/main">
            <a:r>
              <a:t>- https://paofuxiaomiao.github.io/copy-agri-map/?v=f1e3938</a:t>
            </a:r>
          </a:p>
          <a:p xmlns:a="http://schemas.openxmlformats.org/drawingml/2006/main">
            <a:r>
              <a:t>[/Project portfolio 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https://www.goaihz.com/tracks?track=infra&amp;channel=dw6</a:t>
            </a:r>
          </a:p>
          <a:p xmlns:a="http://schemas.openxmlformats.org/drawingml/2006/main">
            <a:r>
              <a:t>- https://www.goaihz.com/guide</a:t>
            </a:r>
          </a:p>
          <a:p xmlns:a="http://schemas.openxmlformats.org/drawingml/2006/main">
            <a:r>
              <a:t>- https://github.com/agentscope-ai/AgentTeams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[Project portfolio sources]</a:t>
            </a:r>
          </a:p>
          <a:p xmlns:a="http://schemas.openxmlformats.org/drawingml/2006/main">
            <a:r>
              <a:t>- 用户提供：附件 应用场景信息表_8项目分类版.docx（WorkBuddy功能演示与新手训练平台、化工流程可视化项目、企展中枢、Prompt Canvas）</a:t>
            </a:r>
          </a:p>
          <a:p xmlns:a="http://schemas.openxmlformats.org/drawingml/2006/main">
            <a:r>
              <a:t>- https://paofuxiaomiao.github.io/workbuddy-demo-7-5/</a:t>
            </a:r>
          </a:p>
          <a:p xmlns:a="http://schemas.openxmlformats.org/drawingml/2006/main">
            <a:r>
              <a:t>- https://paofuxiaomiao.github.io/gou0745-tech-77ebc320/tech-architecture/?v=7868194#advantages</a:t>
            </a:r>
          </a:p>
          <a:p xmlns:a="http://schemas.openxmlformats.org/drawingml/2006/main">
            <a:r>
              <a:t>- https://prompt-canvas-cn.vercel.app</a:t>
            </a:r>
          </a:p>
          <a:p xmlns:a="http://schemas.openxmlformats.org/drawingml/2006/main">
            <a:r>
              <a:t>[/Project portfolio 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78ff488804f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1767031df047e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b9a1bb62d14bd4" /><Relationship Type="http://schemas.openxmlformats.org/officeDocument/2006/relationships/slideLayout" Target="/ppt/slideLayouts/slideLayout1.xml" Id="R9f3bfa05a49045d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b5371a310c54d4b" /><Relationship Type="http://schemas.openxmlformats.org/officeDocument/2006/relationships/slideLayout" Target="/ppt/slideLayouts/slideLayout2.xml" Id="R2b9f30c9368d4c9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3bfa05a49045d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2b9f30c9368d4c98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75257fad14efd" /><Relationship Type="http://schemas.openxmlformats.org/officeDocument/2006/relationships/notesSlide" Target="/ppt/notesSlides/notesSlide1.xml" Id="R55dee1b415fd4e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fd98f0c4e4169" /><Relationship Type="http://schemas.openxmlformats.org/officeDocument/2006/relationships/notesSlide" Target="/ppt/notesSlides/notesSlide2.xml" Id="Rc0265b97883b4e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72668f57394ce9" /><Relationship Type="http://schemas.openxmlformats.org/officeDocument/2006/relationships/notesSlide" Target="/ppt/notesSlides/notesSlide3.xml" Id="R71f7d9b645e74e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6f479a66741d8" /><Relationship Type="http://schemas.openxmlformats.org/officeDocument/2006/relationships/notesSlide" Target="/ppt/notesSlides/notesSlide4.xml" Id="R09cf3cca626147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1a5da7d9144eb" /><Relationship Type="http://schemas.openxmlformats.org/officeDocument/2006/relationships/notesSlide" Target="/ppt/notesSlides/notesSlide5.xml" Id="R758d72ad6e114a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9ebb485fa34470" /><Relationship Type="http://schemas.openxmlformats.org/officeDocument/2006/relationships/notesSlide" Target="/ppt/notesSlides/notesSlide6.xml" Id="R18b85e864c1548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c852524a644d26" /><Relationship Type="http://schemas.openxmlformats.org/officeDocument/2006/relationships/notesSlide" Target="/ppt/notesSlides/notesSlide7.xml" Id="R8cb84458d4314d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9ebc35c1aa4d1b" /><Relationship Type="http://schemas.openxmlformats.org/officeDocument/2006/relationships/notesSlide" Target="/ppt/notesSlides/notesSlide8.xml" Id="Rd7b2c831883040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24966207c4cd9" /><Relationship Type="http://schemas.openxmlformats.org/officeDocument/2006/relationships/notesSlide" Target="/ppt/notesSlides/notesSlide9.xml" Id="R96ada55df3ec4d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15c0be8bff4587" /><Relationship Type="http://schemas.openxmlformats.org/officeDocument/2006/relationships/notesSlide" Target="/ppt/notesSlides/notesSlide10.xml" Id="R4a9bdce2532d4c7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1b015bac54f81" /><Relationship Type="http://schemas.openxmlformats.org/officeDocument/2006/relationships/notesSlide" Target="/ppt/notesSlides/notesSlide11.xml" Id="Rbc53655d7f064b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d0984b5bf34a2e" /><Relationship Type="http://schemas.openxmlformats.org/officeDocument/2006/relationships/notesSlide" Target="/ppt/notesSlides/notesSlide12.xml" Id="R38c41d8ea00249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3169cc249497d" /><Relationship Type="http://schemas.openxmlformats.org/officeDocument/2006/relationships/notesSlide" Target="/ppt/notesSlides/notesSlide13.xml" Id="R8d460c0936ad4a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8d62d699434057" /><Relationship Type="http://schemas.openxmlformats.org/officeDocument/2006/relationships/notesSlide" Target="/ppt/notesSlides/notesSlide14.xml" Id="Rdd18af218e4e48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6dc4029734679" /><Relationship Type="http://schemas.openxmlformats.org/officeDocument/2006/relationships/notesSlide" Target="/ppt/notesSlides/notesSlide15.xml" Id="Ra9cc1acc73a042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9606b2657f41ee" /><Relationship Type="http://schemas.openxmlformats.org/officeDocument/2006/relationships/notesSlide" Target="/ppt/notesSlides/notesSlide16.xml" Id="R5a1817dae834453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43dab4560452a" /><Relationship Type="http://schemas.openxmlformats.org/officeDocument/2006/relationships/image" Target="/ppt/media/image.png" Id="R68e18c4cfa4e4e8c" /><Relationship Type="http://schemas.openxmlformats.org/officeDocument/2006/relationships/notesSlide" Target="/ppt/notesSlides/notesSlide17.xml" Id="Ra917585b7e1d462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bece91c274d97" /><Relationship Type="http://schemas.openxmlformats.org/officeDocument/2006/relationships/notesSlide" Target="/ppt/notesSlides/notesSlide18.xml" Id="R558eb3a124234a8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78c8b01084067" /><Relationship Type="http://schemas.openxmlformats.org/officeDocument/2006/relationships/notesSlide" Target="/ppt/notesSlides/notesSlide19.xml" Id="R7439150e7a5448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bfd57cc994ced" /><Relationship Type="http://schemas.openxmlformats.org/officeDocument/2006/relationships/notesSlide" Target="/ppt/notesSlides/notesSlide20.xml" Id="R4440541affa141c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defaafddd419f" /><Relationship Type="http://schemas.openxmlformats.org/officeDocument/2006/relationships/notesSlide" Target="/ppt/notesSlides/notesSlide21.xml" Id="Re73feac616d1459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2e9a079ff4d4e" /><Relationship Type="http://schemas.openxmlformats.org/officeDocument/2006/relationships/notesSlide" Target="/ppt/notesSlides/notesSlide22.xml" Id="R3871ed8fe2f342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A7DFDE1-3ABA-4C6C-8856-DCAC6CEE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2211B08-DE76-44B2-A9FB-D54E045D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F042CC2-A13D-4253-854E-760474DA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B20495E-6AA0-4BA5-BB31-4DFE4291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2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</a:t>
            </a:r>
            <a:r>
              <a:rPr sz="1500" b="1" spc="2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世界人工智能开源大赛</a:t>
            </a:r>
            <a:r>
              <a:rPr sz="1500" b="1" spc="2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 </a:t>
            </a:r>
            <a:endParaRPr sz="15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EA1ECF9-B0E5-474D-B361-5E7AFF4E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  <a:def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舆情宝 LivePR</a:t>
            </a:r>
            <a:endParaRPr sz="4600"/>
          </a:p>
          <a:p xmlns:a="http://schemas.openxmlformats.org/drawingml/2006/main">
            <a:pPr marL="0" indent="0" algn="l">
              <a:lnSpc>
                <a:spcPct val="102000"/>
              </a:lnSpc>
              <a:buNone/>
              <a:def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现场决策 Agent Team</a:t>
            </a:r>
            <a:endParaRPr sz="46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6D66FC8-1017-47DD-A908-BEF55E27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Agent Infra · 初赛参赛方案</a:t>
            </a:r>
            <a:endParaRPr sz="1100"/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22C66DB-33A3-4C18-88D1-7235E95E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spc="2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现场活动舆情监测与主持决策系统</a:t>
            </a:r>
            <a:endParaRPr sz="1500" b="1" kern="0" spc="200">
              <a:solidFill>
                <a:srgbClr val="FF6B35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56961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45D6A50-5583-49D9-A089-79C1A4FC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一页纸速览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EBA63A4-16BC-40F3-AD7F-77159244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  <a:endParaRPr sz="29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12AF1FA-E1E4-40B5-B886-4FBB05DE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705B642-036D-455C-92D6-A229E464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1F52CF6-B0B6-41A9-99EC-832D3D82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F23878C-B7F4-4567-90B7-6C681DE09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活动主办方 · 品牌公关 · 主持人与直播运营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27C1F9-2BC1-497F-9F91-89EBE548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舆情宝 LivePR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052170D3-77D2-4FB8-8E90-C869F5CA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3F769B4-418C-4B8A-BE49-A16B2F5C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8AC0FCA-00E5-4BD5-86A3-474C943B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E5BCD06-3521-49EB-8138-5D17F9CD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嘉宾临时说出未授权内容，现场缺少秒级补救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1CF80F7-AE04-41BF-87AC-43FE9AA2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实时转写 / 线上反馈 / 授权清单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0B00767-A5C8-4CD0-B716-E2CD8C3D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69F56E1-659E-41A3-8042-FFB91903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D131754-B731-4B48-9C60-D1380005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CBECEE-F51D-4594-8997-802A26DD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AI发现并核验风险，生成主持人可挽回台词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2EF2380-3A5D-4D25-9D1D-8EE88356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监测→授权/事实核查→策略→人审→补救→复盘</a:t>
            </a:r>
            <a:endParaRPr sz="10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7C5F814-B07E-4A45-9691-BB43255A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7985298-2667-48CF-BA6A-5406F479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17CCBA1-4F08-47A8-9CEA-5E57AFAE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02D102D-EE6C-4A6F-8723-70F0B5C1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从“舆情看板”升级为“现场应急决策闭环”</a:t>
            </a:r>
            <a:endParaRPr sz="1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E7E9E22-3191-4ABA-A79A-A12694E0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证据优先；高风险台词必须人工确认</a:t>
            </a:r>
            <a:endParaRPr sz="10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9CE9FDAB-FC7B-4404-B154-A312F036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DE1B7B26-71FE-49CD-8A3D-18D1358E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10175E8-8F23-4750-A906-8FEED975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  <a:endParaRPr sz="15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B38470F-D6E8-4640-9524-92CA0AD6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开放 6 类 Skills、事件流适配器与评测场景</a:t>
            </a:r>
            <a:endParaRPr sz="11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E8C8D8A-7E7F-4DC0-ACD0-8590B69E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活动公关、直播运营、企业会议、应急沟通</a:t>
            </a:r>
            <a:endParaRPr sz="10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BD1352B-5B59-4299-A286-560F31EF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D6C3C28-0BB7-4B8A-B01D-C4E1D260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0F9BE7AC-9A03-4DE2-B286-66695437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  <a:endParaRPr sz="15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4CD57D8-26D1-444B-8A07-38242661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MVP 已运行：7 Agent、2 场景、4 项测试通过</a:t>
            </a:r>
            <a:endParaRPr sz="11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BB98DC4D-FB11-42BC-8395-FD04C244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HTTP 工具网关 / 审批门 / Trace / HTML 大屏</a:t>
            </a:r>
            <a:endParaRPr sz="105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957BDA0-F816-456D-AE65-58F4CCB1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018251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1F24587-C754-459A-9AC6-C31F46DF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137160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F74F05B-2611-4F49-9781-A93F40FA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475488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D829281-CC08-4C00-B203-18A24B65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30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527A68C-9FE6-4F26-AE5C-53F6947F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A8A5765-DA06-4F58-96D6-041E5E74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77AD8F3-4DB6-46A4-9946-CFB33EAE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1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51A604D-B1BD-42EC-96DF-DC064E4A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场景与价值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7A6C6F4-997C-473E-8BD6-540FD847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195B6FD-6F71-457A-8A32-2E2EA6FA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581464A-C373-48B2-AAB2-C8CA233D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5</a:t>
            </a:r>
            <a:endParaRPr sz="13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7E9E8C-A4A6-4042-821E-22B29132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工程落地、运行验证与安全可审计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C2AE65A-4DC9-4CC6-B52E-9741E886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8896D1E-A6C3-46FB-B20A-0DD02D82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C4AAE8C-F75B-4A70-AC03-98A55806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2</a:t>
            </a:r>
            <a:endParaRPr sz="13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94D2AD9-C47F-4FBE-89FB-F77B8E5E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方案总览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B53E081-5171-467B-92C2-771D8E1E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56C218A-BA77-4506-B44B-F77D3711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E8B559C-F015-451F-AB7D-CB457991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6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CA1421F-39BC-4ECB-8D1A-A32F3806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开源开放计划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1DC8C74-BED6-4A3E-B411-5EB63C49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bg1"/>
              </a:solidFill>
            </a:endParaRP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DB433EEE-1A49-4248-AEB2-7AB07DB7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C8EBC9A-D74D-480F-A6B8-C053E5C6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3</a:t>
            </a:r>
            <a:endParaRPr sz="13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77E7F25-7694-4F55-9979-E5B0E2DC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多</a:t>
            </a: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Agent</a:t>
            </a: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协同设计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B8C6461-9407-49D5-BF72-307E9E47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59F273C-C582-4046-A58E-CF74EB1E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95942FE-1E55-4C02-8580-1983935A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7</a:t>
            </a:r>
            <a:endParaRPr sz="13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05C91DB-78A7-423A-B05C-FB2CBFD2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落地计划与进展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738CCDA-0B99-4CA7-8CD6-EA18FCC3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0CD743CF-16C2-4F7B-BC22-1DB4C1FC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9F33F2E5-B152-4C97-B48E-868FE679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4</a:t>
            </a:r>
            <a:endParaRPr sz="13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AE43F6C1-A640-4CC2-AE5A-BC997788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Skills</a:t>
            </a: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工具体系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AFC0CA0-F6A7-4DDC-BFA0-8F9AEE29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25032640-5831-4EDA-BF0E-98F60794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21D9E5F-A9F0-4746-86F4-C5C8D0D4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8</a:t>
            </a:r>
            <a:endParaRPr sz="13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939DF8E3-E381-4BEF-9B71-ABF78FA8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团队介绍</a:t>
            </a:r>
            <a:endParaRPr sz="125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990508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61E64B-D3F1-4962-AAB4-820257D4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5C9B4C-7F18-476A-BD31-FAC25B0C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  <a:endParaRPr sz="2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939C31F-901F-4EF0-B5E7-DB0AC63B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375" y="363855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B0DE0FF-E1BF-479E-8D06-94893AFE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455295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73FA213-A2E2-4C22-9FF5-B911BC61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674751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场景价值与行业可复制性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C282F7C-855D-48BA-9E45-605FD046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A0A4431-863A-4F96-8AA6-21B8E144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94A56A1-949F-44D9-AC38-59B1E58A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065743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BB9E595-7CBF-409A-AB29-EAD2C9CB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  <a:endParaRPr sz="1200"/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A2C134F-08FA-4826-9C3B-5061B000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  <a:endParaRPr sz="2900"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7FE503D6-C8D1-4CCB-B014-AE7E0D99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一次活动中，嘉宾临时说出未经许可的内容，现场未能及时识别并形成补救口径，影响活动正常举行。服务活动主办方、品牌公关、主持人和直播运营团队。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scene-problem-box">
            <a:extLst xmlns:a="http://schemas.openxmlformats.org/drawingml/2006/main">
              <a:ext uri="{FF2B5EF4-FFF2-40B4-BE49-F238E27FC236}">
                <a16:creationId xmlns:a16="http://schemas.microsoft.com/office/drawing/2014/main" id="{2E842BF9-C391-478F-A5D3-2CA3DF96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190750"/>
            <a:ext cx="52863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2EB"/>
          </a:solidFill>
          <a:ln xmlns:a="http://schemas.openxmlformats.org/drawingml/2006/main" w="9525">
            <a:solidFill>
              <a:srgbClr val="FFD0BE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6B35"/>
                </a:solidFill>
              </a:rPr>
              <a:t>真实事件：未经许可内容突发</a:t>
            </a:r>
          </a:p>
          <a:p xmlns:a="http://schemas.openxmlformats.org/drawingml/2006/main">
            <a:pPr algn="l">
              <a:def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嘉宾临时发言偏离授权范围；现场团队来不及核对内容、判断扩散风险并组织主持人补救台词。</a:t>
            </a:r>
          </a:p>
        </p:txBody>
      </p:sp>
      <p:sp>
        <p:nvSpPr>
          <p:cNvPr id="7" name="scene-value-box">
            <a:extLst xmlns:a="http://schemas.openxmlformats.org/drawingml/2006/main">
              <a:ext uri="{FF2B5EF4-FFF2-40B4-BE49-F238E27FC236}">
                <a16:creationId xmlns:a16="http://schemas.microsoft.com/office/drawing/2014/main" id="{2D827C94-B04E-4304-82D0-9E3DFDE9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90750"/>
            <a:ext cx="52863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CBD5FF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F6BFF"/>
                </a:solidFill>
              </a:rPr>
              <a:t>价值：把补救窗口压进现场</a:t>
            </a:r>
          </a:p>
          <a:p xmlns:a="http://schemas.openxmlformats.org/drawingml/2006/main">
            <a:pPr algn="l">
              <a:def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AI同步监听发言与线上反馈，核对授权和事实，生成澄清、安抚或转场台词；人工确认后交给主持人。</a:t>
            </a:r>
          </a:p>
        </p:txBody>
      </p:sp>
      <p:sp>
        <p:nvSpPr>
          <p:cNvPr id="8" name="problem-0-box">
            <a:extLst xmlns:a="http://schemas.openxmlformats.org/drawingml/2006/main">
              <a:ext uri="{FF2B5EF4-FFF2-40B4-BE49-F238E27FC236}">
                <a16:creationId xmlns:a16="http://schemas.microsoft.com/office/drawing/2014/main" id="{5212D2C8-E5AD-4239-88E6-62BA159D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095875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B1F3B"/>
                </a:solidFill>
              </a:rPr>
              <a:t>言论漏监测</a:t>
            </a:r>
          </a:p>
          <a:p xmlns:a="http://schemas.openxmlformats.org/drawingml/2006/main">
            <a:pPr algn="l"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实时音频、字幕与线上反馈未统一</a:t>
            </a:r>
          </a:p>
        </p:txBody>
      </p:sp>
      <p:sp>
        <p:nvSpPr>
          <p:cNvPr id="9" name="problem-1-box">
            <a:extLst xmlns:a="http://schemas.openxmlformats.org/drawingml/2006/main">
              <a:ext uri="{FF2B5EF4-FFF2-40B4-BE49-F238E27FC236}">
                <a16:creationId xmlns:a16="http://schemas.microsoft.com/office/drawing/2014/main" id="{E4FA416A-F433-4749-8E55-651A47CD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14800"/>
            <a:ext cx="5095875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B1F3B"/>
                </a:solidFill>
              </a:rPr>
              <a:t>授权难核对</a:t>
            </a:r>
          </a:p>
          <a:p xmlns:a="http://schemas.openxmlformats.org/drawingml/2006/main">
            <a:pPr algn="l"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哪些内容获准公开，现场难以快速确认</a:t>
            </a:r>
          </a:p>
        </p:txBody>
      </p:sp>
      <p:sp>
        <p:nvSpPr>
          <p:cNvPr id="10" name="problem-2-box">
            <a:extLst xmlns:a="http://schemas.openxmlformats.org/drawingml/2006/main">
              <a:ext uri="{FF2B5EF4-FFF2-40B4-BE49-F238E27FC236}">
                <a16:creationId xmlns:a16="http://schemas.microsoft.com/office/drawing/2014/main" id="{C353BC13-0BEB-4D52-9158-AE7A0BCD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00600"/>
            <a:ext cx="5095875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B1F3B"/>
                </a:solidFill>
              </a:rPr>
              <a:t>补救来不及</a:t>
            </a:r>
          </a:p>
          <a:p xmlns:a="http://schemas.openxmlformats.org/drawingml/2006/main">
            <a:pPr algn="l"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主持人缺少安全、自然、可执行的台词</a:t>
            </a:r>
          </a:p>
        </p:txBody>
      </p:sp>
      <p:sp>
        <p:nvSpPr>
          <p:cNvPr id="11" name="value-0-box">
            <a:extLst xmlns:a="http://schemas.openxmlformats.org/drawingml/2006/main">
              <a:ext uri="{FF2B5EF4-FFF2-40B4-BE49-F238E27FC236}">
                <a16:creationId xmlns:a16="http://schemas.microsoft.com/office/drawing/2014/main" id="{DDCDD2B8-AEF1-4EA6-B1BE-AECC7582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29000"/>
            <a:ext cx="5095875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BCE8CF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A66A"/>
                </a:solidFill>
              </a:rPr>
              <a:t>发现</a:t>
            </a:r>
          </a:p>
          <a:p xmlns:a="http://schemas.openxmlformats.org/drawingml/2006/main">
            <a:pPr algn="l"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实时转写并聚合评论，锁定高风险片段</a:t>
            </a:r>
          </a:p>
        </p:txBody>
      </p:sp>
      <p:sp>
        <p:nvSpPr>
          <p:cNvPr id="12" name="value-1-box">
            <a:extLst xmlns:a="http://schemas.openxmlformats.org/drawingml/2006/main">
              <a:ext uri="{FF2B5EF4-FFF2-40B4-BE49-F238E27FC236}">
                <a16:creationId xmlns:a16="http://schemas.microsoft.com/office/drawing/2014/main" id="{97697957-2837-44C7-9AC4-F8221BB3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14800"/>
            <a:ext cx="5095875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FFF2EB"/>
          </a:solidFill>
          <a:ln xmlns:a="http://schemas.openxmlformats.org/drawingml/2006/main" w="9525">
            <a:solidFill>
              <a:srgbClr val="FFD0BE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6B35"/>
                </a:solidFill>
              </a:rPr>
              <a:t>核查</a:t>
            </a:r>
          </a:p>
          <a:p xmlns:a="http://schemas.openxmlformats.org/drawingml/2006/main">
            <a:pPr algn="l"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对照授权清单与可信资料，给出风险证据</a:t>
            </a:r>
          </a:p>
        </p:txBody>
      </p:sp>
      <p:sp>
        <p:nvSpPr>
          <p:cNvPr id="13" name="value-2-box">
            <a:extLst xmlns:a="http://schemas.openxmlformats.org/drawingml/2006/main">
              <a:ext uri="{FF2B5EF4-FFF2-40B4-BE49-F238E27FC236}">
                <a16:creationId xmlns:a16="http://schemas.microsoft.com/office/drawing/2014/main" id="{082B102E-A267-4132-9321-38347DFC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00600"/>
            <a:ext cx="5095875" cy="581025"/>
          </a:xfrm>
          <a:prstGeom xmlns:a="http://schemas.openxmlformats.org/drawingml/2006/main" prst="roundRect">
            <a:avLst>
              <a:gd name="adj" fmla="val 19672"/>
            </a:avLst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BCE8CF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25A66A"/>
                </a:solidFill>
              </a:rPr>
              <a:t>补救</a:t>
            </a:r>
          </a:p>
          <a:p xmlns:a="http://schemas.openxmlformats.org/drawingml/2006/main">
            <a:pPr algn="l"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生成澄清/安抚/转场台词，人工确认后使用</a:t>
            </a:r>
          </a:p>
        </p:txBody>
      </p:sp>
    </p:spTree>
    <p:extLst>
      <p:ext uri="{BB962C8B-B14F-4D97-AF65-F5344CB8AC3E}">
        <p14:creationId xmlns:p14="http://schemas.microsoft.com/office/powerpoint/2010/main" val="2175766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B9DD369-CEF4-4E50-8EF7-00AEFA3E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二</a:t>
            </a: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50E2C6-006D-4893-8968-62230461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</a:t>
            </a: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总览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558AB90-0FEA-4B71-9C41-8946EB39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88204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27C17E8-AA1F-4A3D-88CE-905E9D83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端到端闭环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4DBB277-E95D-445D-A3E1-7C845965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  <a:endParaRPr sz="29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3AEC7C8-5F03-4876-AB85-D645235F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2733688-A047-4EDE-A76E-CECF25C7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实时转写与现场舆情进入共享事件；AgentTeams Team Leader 拆解、路由并维护状态，最终只把经人工确认的补救台词交给主持人。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arch-input-label">
            <a:extLst xmlns:a="http://schemas.openxmlformats.org/drawingml/2006/main">
              <a:ext uri="{FF2B5EF4-FFF2-40B4-BE49-F238E27FC236}">
                <a16:creationId xmlns:a16="http://schemas.microsoft.com/office/drawing/2014/main" id="{A2FD0B64-EBC2-4346-A408-229E9A3A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33575"/>
            <a:ext cx="8763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35A6F"/>
          </a:solidFill>
          <a:ln xmlns:a="http://schemas.openxmlformats.org/drawingml/2006/main" w="9525">
            <a:solidFill>
              <a:srgbClr val="535A6F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实时转写</a:t>
            </a:r>
          </a:p>
        </p:txBody>
      </p:sp>
      <p:sp>
        <p:nvSpPr>
          <p:cNvPr id="40" name="arch-input-0">
            <a:extLst xmlns:a="http://schemas.openxmlformats.org/drawingml/2006/main">
              <a:ext uri="{FF2B5EF4-FFF2-40B4-BE49-F238E27FC236}">
                <a16:creationId xmlns:a16="http://schemas.microsoft.com/office/drawing/2014/main" id="{CB48421C-1C89-4F47-B84C-78A75F2A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33575"/>
            <a:ext cx="16668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弹幕 / 评论</a:t>
            </a:r>
          </a:p>
        </p:txBody>
      </p:sp>
      <p:sp>
        <p:nvSpPr>
          <p:cNvPr id="41" name="arch-input-1">
            <a:extLst xmlns:a="http://schemas.openxmlformats.org/drawingml/2006/main">
              <a:ext uri="{FF2B5EF4-FFF2-40B4-BE49-F238E27FC236}">
                <a16:creationId xmlns:a16="http://schemas.microsoft.com/office/drawing/2014/main" id="{9126DDCD-F818-4B99-B95A-AA935F36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33575"/>
            <a:ext cx="16668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问卷 / 工作人员记录</a:t>
            </a:r>
          </a:p>
        </p:txBody>
      </p:sp>
      <p:sp>
        <p:nvSpPr>
          <p:cNvPr id="42" name="arch-input-2">
            <a:extLst xmlns:a="http://schemas.openxmlformats.org/drawingml/2006/main">
              <a:ext uri="{FF2B5EF4-FFF2-40B4-BE49-F238E27FC236}">
                <a16:creationId xmlns:a16="http://schemas.microsoft.com/office/drawing/2014/main" id="{EB64AE10-9073-4189-85C1-8F66F4FF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33575"/>
            <a:ext cx="1666875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47625" tIns="47625" rIns="47625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授权清单 / 事实库</a:t>
            </a:r>
          </a:p>
        </p:txBody>
      </p:sp>
      <p:sp>
        <p:nvSpPr>
          <p:cNvPr id="43" name="arch-down-1">
            <a:extLst xmlns:a="http://schemas.openxmlformats.org/drawingml/2006/main">
              <a:ext uri="{FF2B5EF4-FFF2-40B4-BE49-F238E27FC236}">
                <a16:creationId xmlns:a16="http://schemas.microsoft.com/office/drawing/2014/main" id="{5D5ADCC2-977C-408F-859D-A0B1BAFE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24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44" name="arch-leader">
            <a:extLst xmlns:a="http://schemas.openxmlformats.org/drawingml/2006/main">
              <a:ext uri="{FF2B5EF4-FFF2-40B4-BE49-F238E27FC236}">
                <a16:creationId xmlns:a16="http://schemas.microsoft.com/office/drawing/2014/main" id="{A16142E4-4DA8-4090-95D8-30650953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647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9525">
            <a:solidFill>
              <a:srgbClr val="1B1F3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AgentTeams Team Leader｜拆解任务 · 路由协作 · 仲裁冲突 · 维护事件状态</a:t>
            </a:r>
          </a:p>
        </p:txBody>
      </p:sp>
      <p:sp>
        <p:nvSpPr>
          <p:cNvPr id="45" name="arch-down-2">
            <a:extLst xmlns:a="http://schemas.openxmlformats.org/drawingml/2006/main">
              <a:ext uri="{FF2B5EF4-FFF2-40B4-BE49-F238E27FC236}">
                <a16:creationId xmlns:a16="http://schemas.microsoft.com/office/drawing/2014/main" id="{28188075-F3B3-425C-97F9-B4DF0637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46" name="arch-agent-0">
            <a:extLst xmlns:a="http://schemas.openxmlformats.org/drawingml/2006/main">
              <a:ext uri="{FF2B5EF4-FFF2-40B4-BE49-F238E27FC236}">
                <a16:creationId xmlns:a16="http://schemas.microsoft.com/office/drawing/2014/main" id="{BD6C9A69-36AA-4468-9A36-0C32FD33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476625"/>
            <a:ext cx="1466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38100" tIns="57150" rIns="3810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转写 Agent</a:t>
            </a:r>
          </a:p>
        </p:txBody>
      </p:sp>
      <p:sp>
        <p:nvSpPr>
          <p:cNvPr id="47" name="arch-agent-1">
            <a:extLst xmlns:a="http://schemas.openxmlformats.org/drawingml/2006/main">
              <a:ext uri="{FF2B5EF4-FFF2-40B4-BE49-F238E27FC236}">
                <a16:creationId xmlns:a16="http://schemas.microsoft.com/office/drawing/2014/main" id="{AE864BAE-47A0-4EED-9C96-6AF410EC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1466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9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38100" tIns="57150" rIns="3810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趋势 Agent</a:t>
            </a:r>
          </a:p>
        </p:txBody>
      </p:sp>
      <p:sp>
        <p:nvSpPr>
          <p:cNvPr id="48" name="arch-agent-2">
            <a:extLst xmlns:a="http://schemas.openxmlformats.org/drawingml/2006/main">
              <a:ext uri="{FF2B5EF4-FFF2-40B4-BE49-F238E27FC236}">
                <a16:creationId xmlns:a16="http://schemas.microsoft.com/office/drawing/2014/main" id="{A037834E-458E-4DAB-BCC1-A16FAC8B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476625"/>
            <a:ext cx="1466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38100" tIns="57150" rIns="3810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授权核查 Agent</a:t>
            </a:r>
          </a:p>
        </p:txBody>
      </p:sp>
      <p:sp>
        <p:nvSpPr>
          <p:cNvPr id="49" name="arch-agent-3">
            <a:extLst xmlns:a="http://schemas.openxmlformats.org/drawingml/2006/main">
              <a:ext uri="{FF2B5EF4-FFF2-40B4-BE49-F238E27FC236}">
                <a16:creationId xmlns:a16="http://schemas.microsoft.com/office/drawing/2014/main" id="{DFFE611B-FC42-4635-A827-8DC328E7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476625"/>
            <a:ext cx="14668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2E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38100" tIns="57150" rIns="3810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补救策略 Agent</a:t>
            </a:r>
          </a:p>
        </p:txBody>
      </p:sp>
      <p:sp>
        <p:nvSpPr>
          <p:cNvPr id="50" name="arch-agent-4">
            <a:extLst xmlns:a="http://schemas.openxmlformats.org/drawingml/2006/main">
              <a:ext uri="{FF2B5EF4-FFF2-40B4-BE49-F238E27FC236}">
                <a16:creationId xmlns:a16="http://schemas.microsoft.com/office/drawing/2014/main" id="{234A428E-B589-48C1-937F-067F5DDA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67175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38100" tIns="57150" rIns="3810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主持台词 Agent</a:t>
            </a:r>
          </a:p>
        </p:txBody>
      </p:sp>
      <p:sp>
        <p:nvSpPr>
          <p:cNvPr id="51" name="arch-agent-5">
            <a:extLst xmlns:a="http://schemas.openxmlformats.org/drawingml/2006/main">
              <a:ext uri="{FF2B5EF4-FFF2-40B4-BE49-F238E27FC236}">
                <a16:creationId xmlns:a16="http://schemas.microsoft.com/office/drawing/2014/main" id="{EA38C9FA-7E82-4315-81F7-24DC340B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67175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38100" tIns="57150" rIns="3810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安全 Agent</a:t>
            </a:r>
          </a:p>
        </p:txBody>
      </p:sp>
      <p:sp>
        <p:nvSpPr>
          <p:cNvPr id="52" name="arch-agent-6">
            <a:extLst xmlns:a="http://schemas.openxmlformats.org/drawingml/2006/main">
              <a:ext uri="{FF2B5EF4-FFF2-40B4-BE49-F238E27FC236}">
                <a16:creationId xmlns:a16="http://schemas.microsoft.com/office/drawing/2014/main" id="{5F846ADF-63CE-4FAD-B2A2-796A9924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67175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38100" tIns="57150" rIns="38100" bIns="5715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复盘 Agent</a:t>
            </a:r>
          </a:p>
        </p:txBody>
      </p:sp>
      <p:sp>
        <p:nvSpPr>
          <p:cNvPr id="53" name="arch-down-3">
            <a:extLst xmlns:a="http://schemas.openxmlformats.org/drawingml/2006/main">
              <a:ext uri="{FF2B5EF4-FFF2-40B4-BE49-F238E27FC236}">
                <a16:creationId xmlns:a16="http://schemas.microsoft.com/office/drawing/2014/main" id="{320D3125-822C-4D75-A336-A9BFE61E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14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54" name="arch-shared-context">
            <a:extLst xmlns:a="http://schemas.openxmlformats.org/drawingml/2006/main">
              <a:ext uri="{FF2B5EF4-FFF2-40B4-BE49-F238E27FC236}">
                <a16:creationId xmlns:a16="http://schemas.microsoft.com/office/drawing/2014/main" id="{EF5F4A4F-3F76-432C-ACE7-EB023A9E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24400"/>
            <a:ext cx="6477000" cy="295275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共享 EventContext｜转写片段 · 授权状态 · evidenceIds · 风险等级 · 台词版本 · 当前状态</a:t>
            </a:r>
          </a:p>
        </p:txBody>
      </p:sp>
      <p:sp>
        <p:nvSpPr>
          <p:cNvPr id="55" name="arch-output-0">
            <a:extLst xmlns:a="http://schemas.openxmlformats.org/drawingml/2006/main">
              <a:ext uri="{FF2B5EF4-FFF2-40B4-BE49-F238E27FC236}">
                <a16:creationId xmlns:a16="http://schemas.microsoft.com/office/drawing/2014/main" id="{4D0C38A8-5399-429D-85B5-03DEFECB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2EB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47625" tIns="66675" rIns="47625" bIns="6667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3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主持补救台词</a:t>
            </a:r>
          </a:p>
        </p:txBody>
      </p:sp>
      <p:sp>
        <p:nvSpPr>
          <p:cNvPr id="56" name="arch-output-1">
            <a:extLst xmlns:a="http://schemas.openxmlformats.org/drawingml/2006/main">
              <a:ext uri="{FF2B5EF4-FFF2-40B4-BE49-F238E27FC236}">
                <a16:creationId xmlns:a16="http://schemas.microsoft.com/office/drawing/2014/main" id="{671D0638-836F-41E0-86D4-14CCEAE8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435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4F6BFF"/>
            </a:solidFill>
            <a:prstDash val="solid"/>
          </a:ln>
        </p:spPr>
        <p:txBody>
          <a:bodyPr xmlns:a="http://schemas.openxmlformats.org/drawingml/2006/main" lIns="47625" tIns="66675" rIns="47625" bIns="6667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F6B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4F6BFF"/>
                </a:solidFill>
                <a:latin typeface="微软雅黑"/>
                <a:ea typeface="微软雅黑"/>
                <a:cs typeface="微软雅黑"/>
              </a:rPr>
              <a:t>实时风险大屏</a:t>
            </a:r>
          </a:p>
        </p:txBody>
      </p:sp>
      <p:sp>
        <p:nvSpPr>
          <p:cNvPr id="57" name="arch-output-2">
            <a:extLst xmlns:a="http://schemas.openxmlformats.org/drawingml/2006/main">
              <a:ext uri="{FF2B5EF4-FFF2-40B4-BE49-F238E27FC236}">
                <a16:creationId xmlns:a16="http://schemas.microsoft.com/office/drawing/2014/main" id="{C95B3A06-C9B6-4EDC-9352-2CEAB580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435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25A66A"/>
            </a:solidFill>
            <a:prstDash val="solid"/>
          </a:ln>
        </p:spPr>
        <p:txBody>
          <a:bodyPr xmlns:a="http://schemas.openxmlformats.org/drawingml/2006/main" lIns="47625" tIns="66675" rIns="47625" bIns="6667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A66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5A66A"/>
                </a:solidFill>
                <a:latin typeface="微软雅黑"/>
                <a:ea typeface="微软雅黑"/>
                <a:cs typeface="微软雅黑"/>
              </a:rPr>
              <a:t>证据链 / 复盘报告</a:t>
            </a:r>
          </a:p>
        </p:txBody>
      </p:sp>
      <p:sp>
        <p:nvSpPr>
          <p:cNvPr id="58" name="arch-human-gate">
            <a:extLst xmlns:a="http://schemas.openxmlformats.org/drawingml/2006/main">
              <a:ext uri="{FF2B5EF4-FFF2-40B4-BE49-F238E27FC236}">
                <a16:creationId xmlns:a16="http://schemas.microsoft.com/office/drawing/2014/main" id="{5C6DDA24-06EA-40DE-A441-38EEF664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15000"/>
            <a:ext cx="5143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安全边界：主持人 / 公关负责人具名确认后才交付使用</a:t>
            </a:r>
          </a:p>
        </p:txBody>
      </p:sp>
    </p:spTree>
    <p:extLst>
      <p:ext uri="{BB962C8B-B14F-4D97-AF65-F5344CB8AC3E}">
        <p14:creationId xmlns:p14="http://schemas.microsoft.com/office/powerpoint/2010/main" val="1851079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528B4DD-8BCC-4FDE-9573-E37615FFC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8</a:t>
            </a:r>
            <a:endParaRPr sz="1000"/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3823C527-8C2B-498E-AF85-F32A473D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2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  <a:endParaRPr sz="1200"/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5C4F2B56-1E2C-42CE-A44D-6CC9AA42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15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协同设计</a:t>
            </a:r>
            <a:endParaRPr sz="2900"/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8031E862-91CC-4B53-A95C-BC3AEA9B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2B9DF697-95C4-4B8B-8523-6B1D990C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C31182B6-7E34-46D8-9F5B-BB1E3F12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协同与自主闭环能力</a:t>
            </a:r>
            <a:endParaRPr sz="1250"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180CA220-1330-4789-8846-CAB9E3B1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7079220A-A12A-436C-8936-4F161AFB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7912365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4F53B03-0F31-47A7-8029-C99C1AB0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818ECF-2397-432B-9624-338E35CF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协同设计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1EA7C60-4CCF-4824-83E0-E5CA5B6B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Team Leader 把转写片段、授权状态、证据、风险等级和台词版本写入共享事件；Agent 只读写各自字段，信息不足或冲突回退 VERIFY，高风险必须人工批准。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roles-heading">
            <a:extLst xmlns:a="http://schemas.openxmlformats.org/drawingml/2006/main">
              <a:ext uri="{FF2B5EF4-FFF2-40B4-BE49-F238E27FC236}">
                <a16:creationId xmlns:a16="http://schemas.microsoft.com/office/drawing/2014/main" id="{A6A22898-EC8F-43D1-BF13-8473B6A8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分工：专职 Agent 各有边界</a:t>
            </a:r>
          </a:p>
        </p:txBody>
      </p:sp>
      <p:sp>
        <p:nvSpPr>
          <p:cNvPr id="40" name="roles-leader">
            <a:extLst xmlns:a="http://schemas.openxmlformats.org/drawingml/2006/main">
              <a:ext uri="{FF2B5EF4-FFF2-40B4-BE49-F238E27FC236}">
                <a16:creationId xmlns:a16="http://schemas.microsoft.com/office/drawing/2014/main" id="{D7481896-A59D-4A6E-8383-CF471B77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657475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9525">
            <a:solidFill>
              <a:srgbClr val="1B1F3B"/>
            </a:solidFill>
            <a:prstDash val="solid"/>
          </a:ln>
        </p:spPr>
        <p:txBody>
          <a:bodyPr xmlns:a="http://schemas.openxmlformats.org/drawingml/2006/main" lIns="47625" tIns="57150" rIns="47625" bIns="571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Team Leader｜拆解 · 路由 · 仲裁</a:t>
            </a:r>
          </a:p>
        </p:txBody>
      </p:sp>
      <p:sp>
        <p:nvSpPr>
          <p:cNvPr id="41" name="role-0">
            <a:extLst xmlns:a="http://schemas.openxmlformats.org/drawingml/2006/main">
              <a:ext uri="{FF2B5EF4-FFF2-40B4-BE49-F238E27FC236}">
                <a16:creationId xmlns:a16="http://schemas.microsoft.com/office/drawing/2014/main" id="{92B2ED7D-0545-4CFC-AE1F-E9CE3E8E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1620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38100" tIns="57150" rIns="3810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转写采集</a:t>
            </a:r>
          </a:p>
          <a:p xmlns:a="http://schemas.openxmlformats.org/drawingml/2006/main">
            <a:pPr algn="ctr">
              <a:def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42" name="role-1">
            <a:extLst xmlns:a="http://schemas.openxmlformats.org/drawingml/2006/main">
              <a:ext uri="{FF2B5EF4-FFF2-40B4-BE49-F238E27FC236}">
                <a16:creationId xmlns:a16="http://schemas.microsoft.com/office/drawing/2014/main" id="{C25C3C0D-FD25-4C5F-92B9-6C8BB117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333750"/>
            <a:ext cx="11620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9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38100" tIns="57150" rIns="3810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趋势研判</a:t>
            </a:r>
          </a:p>
          <a:p xmlns:a="http://schemas.openxmlformats.org/drawingml/2006/main">
            <a:pPr algn="ctr">
              <a:def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43" name="role-2">
            <a:extLst xmlns:a="http://schemas.openxmlformats.org/drawingml/2006/main">
              <a:ext uri="{FF2B5EF4-FFF2-40B4-BE49-F238E27FC236}">
                <a16:creationId xmlns:a16="http://schemas.microsoft.com/office/drawing/2014/main" id="{AA6E04E8-FDBC-4762-BB86-26D6B6D3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333750"/>
            <a:ext cx="11620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38100" tIns="57150" rIns="3810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授权核查</a:t>
            </a:r>
          </a:p>
          <a:p xmlns:a="http://schemas.openxmlformats.org/drawingml/2006/main">
            <a:pPr algn="ctr">
              <a:def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44" name="role-3">
            <a:extLst xmlns:a="http://schemas.openxmlformats.org/drawingml/2006/main">
              <a:ext uri="{FF2B5EF4-FFF2-40B4-BE49-F238E27FC236}">
                <a16:creationId xmlns:a16="http://schemas.microsoft.com/office/drawing/2014/main" id="{1584B9AE-3FCC-4445-BB51-AE1A8265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333750"/>
            <a:ext cx="11620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2E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38100" tIns="57150" rIns="3810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补救策略</a:t>
            </a:r>
          </a:p>
          <a:p xmlns:a="http://schemas.openxmlformats.org/drawingml/2006/main">
            <a:pPr algn="ctr">
              <a:def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45" name="role-4">
            <a:extLst xmlns:a="http://schemas.openxmlformats.org/drawingml/2006/main">
              <a:ext uri="{FF2B5EF4-FFF2-40B4-BE49-F238E27FC236}">
                <a16:creationId xmlns:a16="http://schemas.microsoft.com/office/drawing/2014/main" id="{B2E2D3D6-0683-4A7F-BB4D-3614E322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19550"/>
            <a:ext cx="14859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38100" tIns="57150" rIns="3810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主持台词</a:t>
            </a:r>
          </a:p>
          <a:p xmlns:a="http://schemas.openxmlformats.org/drawingml/2006/main">
            <a:pPr algn="ctr">
              <a:def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46" name="role-5">
            <a:extLst xmlns:a="http://schemas.openxmlformats.org/drawingml/2006/main">
              <a:ext uri="{FF2B5EF4-FFF2-40B4-BE49-F238E27FC236}">
                <a16:creationId xmlns:a16="http://schemas.microsoft.com/office/drawing/2014/main" id="{215A6195-DA15-4F92-83C5-955D73D0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19550"/>
            <a:ext cx="14859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38100" tIns="57150" rIns="3810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安全审核</a:t>
            </a:r>
          </a:p>
          <a:p xmlns:a="http://schemas.openxmlformats.org/drawingml/2006/main">
            <a:pPr algn="ctr">
              <a:def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47" name="role-6">
            <a:extLst xmlns:a="http://schemas.openxmlformats.org/drawingml/2006/main">
              <a:ext uri="{FF2B5EF4-FFF2-40B4-BE49-F238E27FC236}">
                <a16:creationId xmlns:a16="http://schemas.microsoft.com/office/drawing/2014/main" id="{802B5554-6282-42BC-87B2-01A687B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019550"/>
            <a:ext cx="14859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38100" tIns="57150" rIns="3810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反馈复盘</a:t>
            </a:r>
          </a:p>
          <a:p xmlns:a="http://schemas.openxmlformats.org/drawingml/2006/main">
            <a:pPr algn="ctr">
              <a:def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48" name="roles-context">
            <a:extLst xmlns:a="http://schemas.openxmlformats.org/drawingml/2006/main">
              <a:ext uri="{FF2B5EF4-FFF2-40B4-BE49-F238E27FC236}">
                <a16:creationId xmlns:a16="http://schemas.microsoft.com/office/drawing/2014/main" id="{B5A4BE3C-8F45-4F1B-B3F5-B956CC3D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76800"/>
            <a:ext cx="509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CBD5FF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6B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4F6BFF"/>
                </a:solidFill>
                <a:latin typeface="微软雅黑"/>
                <a:ea typeface="微软雅黑"/>
                <a:cs typeface="微软雅黑"/>
              </a:rPr>
              <a:t>共享上下文：EventContext + EvidenceStore + DecisionLog</a:t>
            </a:r>
          </a:p>
        </p:txBody>
      </p:sp>
      <p:sp>
        <p:nvSpPr>
          <p:cNvPr id="49" name="state-heading">
            <a:extLst xmlns:a="http://schemas.openxmlformats.org/drawingml/2006/main">
              <a:ext uri="{FF2B5EF4-FFF2-40B4-BE49-F238E27FC236}">
                <a16:creationId xmlns:a16="http://schemas.microsoft.com/office/drawing/2014/main" id="{EA70DF5D-FF09-436E-93A1-8521A787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状态机：有证据才推进</a:t>
            </a:r>
          </a:p>
        </p:txBody>
      </p:sp>
      <p:sp>
        <p:nvSpPr>
          <p:cNvPr id="50" name="state-0-box">
            <a:extLst xmlns:a="http://schemas.openxmlformats.org/drawingml/2006/main">
              <a:ext uri="{FF2B5EF4-FFF2-40B4-BE49-F238E27FC236}">
                <a16:creationId xmlns:a16="http://schemas.microsoft.com/office/drawing/2014/main" id="{FB89EAD8-B6E8-4248-9DD7-0428841A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86050"/>
            <a:ext cx="2362200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9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B1F3B"/>
                </a:solidFill>
              </a:rPr>
              <a:t>01  INTAKE</a:t>
            </a:r>
          </a:p>
          <a:p xmlns:a="http://schemas.openxmlformats.org/drawingml/2006/main">
            <a:pPr algn="l">
              <a:defRPr sz="9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转写发言并聚合现场信号</a:t>
            </a:r>
          </a:p>
        </p:txBody>
      </p:sp>
      <p:sp>
        <p:nvSpPr>
          <p:cNvPr id="51" name="state-1-box">
            <a:extLst xmlns:a="http://schemas.openxmlformats.org/drawingml/2006/main">
              <a:ext uri="{FF2B5EF4-FFF2-40B4-BE49-F238E27FC236}">
                <a16:creationId xmlns:a16="http://schemas.microsoft.com/office/drawing/2014/main" id="{A3052C96-989D-4F68-B5F8-25A2F31C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09950"/>
            <a:ext cx="2362200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9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B1F3B"/>
                </a:solidFill>
              </a:rPr>
              <a:t>02  VERIFY</a:t>
            </a:r>
          </a:p>
          <a:p xmlns:a="http://schemas.openxmlformats.org/drawingml/2006/main">
            <a:pPr algn="l">
              <a:defRPr sz="9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核对授权清单 + 事实证据</a:t>
            </a:r>
          </a:p>
        </p:txBody>
      </p:sp>
      <p:sp>
        <p:nvSpPr>
          <p:cNvPr id="52" name="state-2-box">
            <a:extLst xmlns:a="http://schemas.openxmlformats.org/drawingml/2006/main">
              <a:ext uri="{FF2B5EF4-FFF2-40B4-BE49-F238E27FC236}">
                <a16:creationId xmlns:a16="http://schemas.microsoft.com/office/drawing/2014/main" id="{4E37BF7B-11D4-43FC-9A1A-900E1485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2362200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9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B1F3B"/>
                </a:solidFill>
              </a:rPr>
              <a:t>03  PLAN</a:t>
            </a:r>
          </a:p>
          <a:p xmlns:a="http://schemas.openxmlformats.org/drawingml/2006/main">
            <a:pPr algn="l">
              <a:defRPr sz="9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形成澄清/安抚/转场策略</a:t>
            </a:r>
          </a:p>
        </p:txBody>
      </p:sp>
      <p:sp>
        <p:nvSpPr>
          <p:cNvPr id="53" name="state-3-box">
            <a:extLst xmlns:a="http://schemas.openxmlformats.org/drawingml/2006/main">
              <a:ext uri="{FF2B5EF4-FFF2-40B4-BE49-F238E27FC236}">
                <a16:creationId xmlns:a16="http://schemas.microsoft.com/office/drawing/2014/main" id="{05CA3213-1DFC-4895-81F6-0A555E6B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2362200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EB"/>
          </a:solidFill>
          <a:ln xmlns:a="http://schemas.openxmlformats.org/drawingml/2006/main" w="9525">
            <a:solidFill>
              <a:srgbClr val="FFD0BE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9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6B35"/>
                </a:solidFill>
              </a:rPr>
              <a:t>04  APPROVE</a:t>
            </a:r>
          </a:p>
          <a:p xmlns:a="http://schemas.openxmlformats.org/drawingml/2006/main">
            <a:pPr algn="l">
              <a:defRPr sz="9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主持人/公关负责人具名确认</a:t>
            </a:r>
          </a:p>
        </p:txBody>
      </p:sp>
      <p:sp>
        <p:nvSpPr>
          <p:cNvPr id="54" name="state-4-box">
            <a:extLst xmlns:a="http://schemas.openxmlformats.org/drawingml/2006/main">
              <a:ext uri="{FF2B5EF4-FFF2-40B4-BE49-F238E27FC236}">
                <a16:creationId xmlns:a16="http://schemas.microsoft.com/office/drawing/2014/main" id="{A96D74C4-A4DC-417E-98D3-BB1385C8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9950"/>
            <a:ext cx="2362200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9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B1F3B"/>
                </a:solidFill>
              </a:rPr>
              <a:t>05  DELIVER</a:t>
            </a:r>
          </a:p>
          <a:p xmlns:a="http://schemas.openxmlformats.org/drawingml/2006/main">
            <a:pPr algn="l">
              <a:defRPr sz="9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交付主持补救台词并持续监测</a:t>
            </a:r>
          </a:p>
        </p:txBody>
      </p:sp>
      <p:sp>
        <p:nvSpPr>
          <p:cNvPr id="55" name="state-5-box">
            <a:extLst xmlns:a="http://schemas.openxmlformats.org/drawingml/2006/main">
              <a:ext uri="{FF2B5EF4-FFF2-40B4-BE49-F238E27FC236}">
                <a16:creationId xmlns:a16="http://schemas.microsoft.com/office/drawing/2014/main" id="{CD3BFB16-64D7-45B4-B493-3468DF8F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33850"/>
            <a:ext cx="2362200" cy="60007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9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B1F3B"/>
                </a:solidFill>
              </a:rPr>
              <a:t>06  CLOSE</a:t>
            </a:r>
          </a:p>
          <a:p xmlns:a="http://schemas.openxmlformats.org/drawingml/2006/main">
            <a:pPr algn="l">
              <a:defRPr sz="9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验证舆情变化并生成复盘</a:t>
            </a:r>
          </a:p>
        </p:txBody>
      </p:sp>
      <p:sp>
        <p:nvSpPr>
          <p:cNvPr id="56" name="state-retry">
            <a:extLst xmlns:a="http://schemas.openxmlformats.org/drawingml/2006/main">
              <a:ext uri="{FF2B5EF4-FFF2-40B4-BE49-F238E27FC236}">
                <a16:creationId xmlns:a16="http://schemas.microsoft.com/office/drawing/2014/main" id="{B1518AF8-26D6-4BCE-BE20-D72CE8FE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76800"/>
            <a:ext cx="3981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6B9BA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84C4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E84C4F"/>
                </a:solidFill>
                <a:latin typeface="微软雅黑"/>
                <a:ea typeface="微软雅黑"/>
                <a:cs typeface="微软雅黑"/>
              </a:rPr>
              <a:t>信息不足 / 结论冲突 → 回退 VERIFY，由 Team Leader 重路由</a:t>
            </a:r>
          </a:p>
        </p:txBody>
      </p:sp>
    </p:spTree>
    <p:extLst>
      <p:ext uri="{BB962C8B-B14F-4D97-AF65-F5344CB8AC3E}">
        <p14:creationId xmlns:p14="http://schemas.microsoft.com/office/powerpoint/2010/main" val="10505861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F8DE558-A52D-4FB1-9786-6F6FB1A6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  <a:endParaRPr sz="10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CB28557-7260-4C21-8203-DD485C66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86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F5C0470-EAEB-487A-ABE7-C6342492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218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</a:t>
            </a:r>
            <a:endParaRPr sz="2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4ED3A04-2453-4A17-95EC-D5A0843D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87B0458C-192F-4568-AAA2-047557F6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13" name="Text 4">
            <a:extLst xmlns:a="http://schemas.openxmlformats.org/drawingml/2006/main">
              <a:ext uri="{FF2B5EF4-FFF2-40B4-BE49-F238E27FC236}">
                <a16:creationId xmlns:a16="http://schemas.microsoft.com/office/drawing/2014/main" id="{86FA525B-ED8D-4995-BACB-62EB8678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工程体系与生态复用</a:t>
            </a:r>
            <a:endParaRPr sz="1250"/>
          </a:p>
        </p:txBody>
      </p:sp>
      <p:sp>
        <p:nvSpPr>
          <p:cNvPr id="14" name="Shape 5">
            <a:extLst xmlns:a="http://schemas.openxmlformats.org/drawingml/2006/main">
              <a:ext uri="{FF2B5EF4-FFF2-40B4-BE49-F238E27FC236}">
                <a16:creationId xmlns:a16="http://schemas.microsoft.com/office/drawing/2014/main" id="{AF3A2ACB-9A08-4B61-BA20-CF6E1F91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516FE8EC-E58A-46D0-8741-C3BA64E0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1094353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1EE3F4-A44D-4DA4-8064-F633708F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本赛题必选项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2D04FE-1D10-463F-BCA7-8CE4B61F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</a:t>
            </a:r>
            <a:endParaRPr sz="2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2861298-883A-456E-8B6A-8BAC699E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D6B3BAD-F011-4C19-8DC5-6313FC48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  <a:endParaRPr sz="15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F27B67C9-B029-4495-AFC0-583FC27F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六个通用 Skill 都显式定义输入、输出、外部依赖、证据字段与失败处理，覆盖风险发现、授权/事实核查、策略、主持补救与复盘。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skill-trend-contract">
            <a:extLst xmlns:a="http://schemas.openxmlformats.org/drawingml/2006/main">
              <a:ext uri="{FF2B5EF4-FFF2-40B4-BE49-F238E27FC236}">
                <a16:creationId xmlns:a16="http://schemas.microsoft.com/office/drawing/2014/main" id="{6856BBFD-1EB5-4DDB-8ADF-7D26D963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5429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4F6BFF"/>
            </a:solidFill>
            <a:prstDash val="solid"/>
          </a:ln>
        </p:spPr>
        <p:txBody>
          <a:bodyPr xmlns:a="http://schemas.openxmlformats.org/drawingml/2006/main" lIns="123825" tIns="76200" rIns="123825" bIns="66675" anchor="t"/>
          <a:lstStyle xmlns:a="http://schemas.openxmlformats.org/drawingml/2006/main"/>
          <a:p xmlns:a="http://schemas.openxmlformats.org/drawingml/2006/main">
            <a:pPr algn="l">
              <a:spcAft>
                <a:spcPts val="5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4F6BFF"/>
                </a:solidFill>
              </a:rPr>
              <a:t>trend-burst-detect｜趋势突变检测</a:t>
            </a:r>
          </a:p>
          <a:p xmlns:a="http://schemas.openxmlformats.org/drawingml/2006/main">
            <a:pPr algn="l">
              <a:spcAft>
                <a:spcPts val="1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1B1F3B"/>
                </a:solidFill>
              </a:rPr>
              <a:t>输入｜</a:t>
            </a:r>
            <a:r>
              <a:rPr>
                <a:solidFill>
                  <a:srgbClr val="535A6F"/>
                </a:solidFill>
              </a:rPr>
              <a:t>EventContext + 归一化转写/评论</a:t>
            </a:r>
          </a:p>
          <a:p xmlns:a="http://schemas.openxmlformats.org/drawingml/2006/main">
            <a:pPr algn="l">
              <a:spcAft>
                <a:spcPts val="1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1B1F3B"/>
                </a:solidFill>
              </a:rPr>
              <a:t>输出｜</a:t>
            </a:r>
            <a:r>
              <a:rPr>
                <a:solidFill>
                  <a:srgbClr val="535A6F"/>
                </a:solidFill>
              </a:rPr>
              <a:t>风险片段、时间码、样本ID、置信度</a:t>
            </a:r>
          </a:p>
          <a:p xmlns:a="http://schemas.openxmlformats.org/drawingml/2006/main">
            <a:pPr algn="l">
              <a:spcAft>
                <a:spcPts val="1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1B1F3B"/>
                </a:solidFill>
              </a:rPr>
              <a:t>依赖｜</a:t>
            </a:r>
            <a:r>
              <a:rPr>
                <a:solidFill>
                  <a:srgbClr val="535A6F"/>
                </a:solidFill>
              </a:rPr>
              <a:t>Event Gateway + 历史基线</a:t>
            </a:r>
          </a:p>
          <a:p xmlns:a="http://schemas.openxmlformats.org/drawingml/2006/main">
            <a:pPr algn="l">
              <a:spcAft>
                <a:spcPts val="1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1B1F3B"/>
                </a:solidFill>
              </a:rPr>
              <a:t>失败｜</a:t>
            </a:r>
            <a:r>
              <a:rPr>
                <a:solidFill>
                  <a:srgbClr val="535A6F"/>
                </a:solidFill>
              </a:rPr>
              <a:t>数据不足或断流 → abstain / 回到 VERIFY</a:t>
            </a:r>
          </a:p>
          <a:p xmlns:a="http://schemas.openxmlformats.org/drawingml/2006/main">
            <a:pPr algn="l">
              <a:spcAft>
                <a:spcPts val="1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1B1F3B"/>
                </a:solidFill>
              </a:rPr>
              <a:t>复用｜</a:t>
            </a:r>
            <a:r>
              <a:rPr>
                <a:solidFill>
                  <a:srgbClr val="535A6F"/>
                </a:solidFill>
              </a:rPr>
              <a:t>直播、论坛、课程、企业会议</a:t>
            </a:r>
          </a:p>
        </p:txBody>
      </p:sp>
      <p:sp>
        <p:nvSpPr>
          <p:cNvPr id="40" name="skill-host-contract">
            <a:extLst xmlns:a="http://schemas.openxmlformats.org/drawingml/2006/main">
              <a:ext uri="{FF2B5EF4-FFF2-40B4-BE49-F238E27FC236}">
                <a16:creationId xmlns:a16="http://schemas.microsoft.com/office/drawing/2014/main" id="{B4CB05D8-7178-44A1-B01D-8341CA78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52850"/>
            <a:ext cx="5429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2EB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123825" tIns="76200" rIns="123825" bIns="66675" anchor="t"/>
          <a:lstStyle xmlns:a="http://schemas.openxmlformats.org/drawingml/2006/main"/>
          <a:p xmlns:a="http://schemas.openxmlformats.org/drawingml/2006/main">
            <a:pPr algn="l">
              <a:spcAft>
                <a:spcPts val="5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6B35"/>
                </a:solidFill>
              </a:rPr>
              <a:t>host-card｜主持补救台词</a:t>
            </a:r>
          </a:p>
          <a:p xmlns:a="http://schemas.openxmlformats.org/drawingml/2006/main">
            <a:pPr algn="l">
              <a:spcAft>
                <a:spcPts val="1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1B1F3B"/>
                </a:solidFill>
              </a:rPr>
              <a:t>输入｜</a:t>
            </a:r>
            <a:r>
              <a:rPr>
                <a:solidFill>
                  <a:srgbClr val="535A6F"/>
                </a:solidFill>
              </a:rPr>
              <a:t>已核事实 + 已批准策略 + 风险等级</a:t>
            </a:r>
          </a:p>
          <a:p xmlns:a="http://schemas.openxmlformats.org/drawingml/2006/main">
            <a:pPr algn="l">
              <a:spcAft>
                <a:spcPts val="1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1B1F3B"/>
                </a:solidFill>
              </a:rPr>
              <a:t>输出｜</a:t>
            </a:r>
            <a:r>
              <a:rPr>
                <a:solidFill>
                  <a:srgbClr val="535A6F"/>
                </a:solidFill>
              </a:rPr>
              <a:t>短台词、禁用表达、evidenceIds、版本号</a:t>
            </a:r>
          </a:p>
          <a:p xmlns:a="http://schemas.openxmlformats.org/drawingml/2006/main">
            <a:pPr algn="l">
              <a:spcAft>
                <a:spcPts val="1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1B1F3B"/>
                </a:solidFill>
              </a:rPr>
              <a:t>依赖｜</a:t>
            </a:r>
            <a:r>
              <a:rPr>
                <a:solidFill>
                  <a:srgbClr val="535A6F"/>
                </a:solidFill>
              </a:rPr>
              <a:t>fact-check + response-plan + 人工审批</a:t>
            </a:r>
          </a:p>
          <a:p xmlns:a="http://schemas.openxmlformats.org/drawingml/2006/main">
            <a:pPr algn="l">
              <a:spcAft>
                <a:spcPts val="1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1B1F3B"/>
                </a:solidFill>
              </a:rPr>
              <a:t>失败｜</a:t>
            </a:r>
            <a:r>
              <a:rPr>
                <a:solidFill>
                  <a:srgbClr val="535A6F"/>
                </a:solidFill>
              </a:rPr>
              <a:t>无证据或未审批 → 不生成可交付版本</a:t>
            </a:r>
          </a:p>
          <a:p xmlns:a="http://schemas.openxmlformats.org/drawingml/2006/main">
            <a:pPr algn="l">
              <a:spcAft>
                <a:spcPts val="1"/>
              </a:spcAft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1B1F3B"/>
                </a:solidFill>
              </a:rPr>
              <a:t>复用｜</a:t>
            </a:r>
            <a:r>
              <a:rPr>
                <a:solidFill>
                  <a:srgbClr val="535A6F"/>
                </a:solidFill>
              </a:rPr>
              <a:t>主持、客服、应急沟通、直播运营</a:t>
            </a:r>
          </a:p>
        </p:txBody>
      </p:sp>
      <p:sp>
        <p:nvSpPr>
          <p:cNvPr id="41" name="skill-lifecycle">
            <a:extLst xmlns:a="http://schemas.openxmlformats.org/drawingml/2006/main">
              <a:ext uri="{FF2B5EF4-FFF2-40B4-BE49-F238E27FC236}">
                <a16:creationId xmlns:a16="http://schemas.microsoft.com/office/drawing/2014/main" id="{7321D457-5C62-4444-89E6-7B95F6AC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14925"/>
            <a:ext cx="5429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9525">
            <a:solidFill>
              <a:srgbClr val="1B1F3B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其余 Skills：risk-grade · fact-check · response-plan · postmortem｜版本化 → 测试 → 评测 → 灰度 → 回退</a:t>
            </a:r>
          </a:p>
        </p:txBody>
      </p:sp>
    </p:spTree>
    <p:extLst>
      <p:ext uri="{BB962C8B-B14F-4D97-AF65-F5344CB8AC3E}">
        <p14:creationId xmlns:p14="http://schemas.microsoft.com/office/powerpoint/2010/main" val="3925012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D43FC66-B268-4653-9018-252B9F7D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12</a:t>
            </a:r>
            <a:endParaRPr sz="1000"/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C6868764-CB3A-4F65-AE47-ECED1DC1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199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  <a:endParaRPr sz="1200"/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F98017DB-24D1-4793-9332-118BFCF9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31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工程落地、运行验证与安全可审计</a:t>
            </a:r>
            <a:endParaRPr sz="2900"/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1E9E796B-3F9B-42F2-B12C-B4124F87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E508D9B5-A238-43DF-A670-CA655544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BB2CB3D7-A41E-4344-AEDD-19FE18C2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工程落地与安全可审计</a:t>
            </a:r>
            <a:endParaRPr sz="1250"/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DC835160-FA17-41FA-B41A-7D34E504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6EE1EB3C-64E9-452A-8FBA-AC8513C0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368945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5CC6D26-C7F1-484C-B5CB-1492F3CA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3756F5-8D1D-40A9-BEB7-7B826476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工程落地、运行验证与安全可审计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4B865C1A-FBAC-4202-AB68-72B2F238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实时音频、评论和现场记录经适配器进入事件流；MCP/HTTP 调用转写与核验工具，RAG 只检索授权清单、嘉宾资料和主持预案。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engineering-0-box">
            <a:extLst xmlns:a="http://schemas.openxmlformats.org/drawingml/2006/main">
              <a:ext uri="{FF2B5EF4-FFF2-40B4-BE49-F238E27FC236}">
                <a16:creationId xmlns:a16="http://schemas.microsoft.com/office/drawing/2014/main" id="{4B35FEF4-FE7F-4542-923D-06272952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9775"/>
            <a:ext cx="382905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4F6BFF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4F6BFF"/>
                </a:solidFill>
              </a:rPr>
              <a:t>工具 / MCP / RAG</a:t>
            </a:r>
          </a:p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• Event Gateway 将音频、字幕、评论统一为事件Schema
• MCP/HTTP 适配器：超时、重试、幂等与权限边界
• RAG只检索授权清单/嘉宾资料/主持预案并返回 evidenceIds</a:t>
            </a:r>
          </a:p>
        </p:txBody>
      </p:sp>
      <p:sp>
        <p:nvSpPr>
          <p:cNvPr id="40" name="engineering-1-box">
            <a:extLst xmlns:a="http://schemas.openxmlformats.org/drawingml/2006/main">
              <a:ext uri="{FF2B5EF4-FFF2-40B4-BE49-F238E27FC236}">
                <a16:creationId xmlns:a16="http://schemas.microsoft.com/office/drawing/2014/main" id="{EE14EE4D-CD94-4888-A908-94D76394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9775"/>
            <a:ext cx="382905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AF9FB"/>
          </a:solidFill>
          <a:ln xmlns:a="http://schemas.openxmlformats.org/drawingml/2006/main" w="9525">
            <a:solidFill>
              <a:srgbClr val="23B6C7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3B6C7"/>
                </a:solidFill>
              </a:rPr>
              <a:t>验证与全链路审计</a:t>
            </a:r>
          </a:p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• 结果校验：证据覆盖、授权状态、禁用表达、版本一致性
• Trace ID / 状态 / 版本 / 耗时 / 置信度全量留痕
• 人工批准、修改、交付与舆情变化可回放</a:t>
            </a:r>
          </a:p>
        </p:txBody>
      </p:sp>
      <p:sp>
        <p:nvSpPr>
          <p:cNvPr id="41" name="engineering-2-box">
            <a:extLst xmlns:a="http://schemas.openxmlformats.org/drawingml/2006/main">
              <a:ext uri="{FF2B5EF4-FFF2-40B4-BE49-F238E27FC236}">
                <a16:creationId xmlns:a16="http://schemas.microsoft.com/office/drawing/2014/main" id="{349B76FC-423D-4A20-BB54-54D0829F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14825"/>
            <a:ext cx="382905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E84C4F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E84C4F"/>
                </a:solidFill>
              </a:rPr>
              <a:t>安全与审批</a:t>
            </a:r>
          </a:p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• 最小权限、敏感信息脱敏、可信资料白名单
• 事实冲突或越权时停止推进并升级人工
• 主持人/公关负责人具名批准后才生成交付版</a:t>
            </a:r>
          </a:p>
        </p:txBody>
      </p:sp>
      <p:sp>
        <p:nvSpPr>
          <p:cNvPr id="42" name="engineering-3-box">
            <a:extLst xmlns:a="http://schemas.openxmlformats.org/drawingml/2006/main">
              <a:ext uri="{FF2B5EF4-FFF2-40B4-BE49-F238E27FC236}">
                <a16:creationId xmlns:a16="http://schemas.microsoft.com/office/drawing/2014/main" id="{824C5DD8-1ACF-4B0A-A438-09F50E76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14825"/>
            <a:ext cx="3829050" cy="21145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25A66A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5A66A"/>
                </a:solidFill>
              </a:rPr>
              <a:t>失败、回滚与降级</a:t>
            </a:r>
          </a:p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• ASR低置信度/断流 → 人工记录；RAG无证据 → abstain
• 超时重试/熔断；冲突回到 VERIFY 重新路由
• 保留上一已批准版本，可一键撤回新版本并写入审计日志</a:t>
            </a:r>
          </a:p>
        </p:txBody>
      </p:sp>
    </p:spTree>
    <p:extLst>
      <p:ext uri="{BB962C8B-B14F-4D97-AF65-F5344CB8AC3E}">
        <p14:creationId xmlns:p14="http://schemas.microsoft.com/office/powerpoint/2010/main" val="15596759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8EEDC59-705C-4DA3-BBA3-F329499B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14</a:t>
            </a:r>
            <a:endParaRPr sz="1000"/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BC59774-25CE-4D21-AB2A-128BC593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8373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C3598D8-9CED-475A-9E6E-07715E3A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5805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开源计划</a:t>
            </a:r>
            <a:endParaRPr sz="2900"/>
          </a:p>
        </p:txBody>
      </p:sp>
      <p:sp>
        <p:nvSpPr>
          <p:cNvPr id="16" name="Shape 2">
            <a:extLst xmlns:a="http://schemas.openxmlformats.org/drawingml/2006/main">
              <a:ext uri="{FF2B5EF4-FFF2-40B4-BE49-F238E27FC236}">
                <a16:creationId xmlns:a16="http://schemas.microsoft.com/office/drawing/2014/main" id="{6D6A4E0B-BB16-44FD-845C-45BC5D42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7" name="Text 3">
            <a:extLst xmlns:a="http://schemas.openxmlformats.org/drawingml/2006/main">
              <a:ext uri="{FF2B5EF4-FFF2-40B4-BE49-F238E27FC236}">
                <a16:creationId xmlns:a16="http://schemas.microsoft.com/office/drawing/2014/main" id="{8F5A4EE5-2806-468A-A902-60E098E5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  <a:endParaRPr sz="1000"/>
          </a:p>
        </p:txBody>
      </p:sp>
      <p:sp>
        <p:nvSpPr>
          <p:cNvPr id="18" name="Text 4">
            <a:extLst xmlns:a="http://schemas.openxmlformats.org/drawingml/2006/main">
              <a:ext uri="{FF2B5EF4-FFF2-40B4-BE49-F238E27FC236}">
                <a16:creationId xmlns:a16="http://schemas.microsoft.com/office/drawing/2014/main" id="{E18444F1-3ECE-47D4-B53F-1C21EC34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  <a:endParaRPr sz="1250"/>
          </a:p>
        </p:txBody>
      </p:sp>
      <p:sp>
        <p:nvSpPr>
          <p:cNvPr id="19" name="Shape 5">
            <a:extLst xmlns:a="http://schemas.openxmlformats.org/drawingml/2006/main">
              <a:ext uri="{FF2B5EF4-FFF2-40B4-BE49-F238E27FC236}">
                <a16:creationId xmlns:a16="http://schemas.microsoft.com/office/drawing/2014/main" id="{6F54836C-DC96-4E19-A5A8-9A729831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6">
            <a:extLst xmlns:a="http://schemas.openxmlformats.org/drawingml/2006/main">
              <a:ext uri="{FF2B5EF4-FFF2-40B4-BE49-F238E27FC236}">
                <a16:creationId xmlns:a16="http://schemas.microsoft.com/office/drawing/2014/main" id="{FF2A1FC9-2411-4568-90FB-883F5BBA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5%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49862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BC19BCE-B957-4E0C-9470-E0E266E7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4C3FA8-D420-4A06-AC97-A5BB96AF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开源计划</a:t>
            </a:r>
            <a:endParaRPr sz="29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E29DA273-92C3-4DDC-B7D5-4AD45F8B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计划开放通用 Skills、模拟事件流适配器和评测场景；示例数据全部脱敏，并提供接口契约、运行文档、许可证与第三方依赖清单。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open-heading">
            <a:extLst xmlns:a="http://schemas.openxmlformats.org/drawingml/2006/main">
              <a:ext uri="{FF2B5EF4-FFF2-40B4-BE49-F238E27FC236}">
                <a16:creationId xmlns:a16="http://schemas.microsoft.com/office/drawing/2014/main" id="{8DA92F65-7790-4170-8A59-E284A4B4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可复用成果按五个独立单元发布</a:t>
            </a:r>
          </a:p>
        </p:txBody>
      </p:sp>
      <p:sp>
        <p:nvSpPr>
          <p:cNvPr id="40" name="release-0">
            <a:extLst xmlns:a="http://schemas.openxmlformats.org/drawingml/2006/main">
              <a:ext uri="{FF2B5EF4-FFF2-40B4-BE49-F238E27FC236}">
                <a16:creationId xmlns:a16="http://schemas.microsoft.com/office/drawing/2014/main" id="{7455AC70-B29C-4E2F-9FE0-41571256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95262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</p:sp>
      <p:sp>
        <p:nvSpPr>
          <p:cNvPr id="41" name="release-num-0">
            <a:extLst xmlns:a="http://schemas.openxmlformats.org/drawingml/2006/main">
              <a:ext uri="{FF2B5EF4-FFF2-40B4-BE49-F238E27FC236}">
                <a16:creationId xmlns:a16="http://schemas.microsoft.com/office/drawing/2014/main" id="{115AC66F-CD3D-46CF-80C6-E6838CE3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00350"/>
            <a:ext cx="457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9525">
            <a:solidFill>
              <a:srgbClr val="1B1F3B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2" name="release-title-0">
            <a:extLst xmlns:a="http://schemas.openxmlformats.org/drawingml/2006/main">
              <a:ext uri="{FF2B5EF4-FFF2-40B4-BE49-F238E27FC236}">
                <a16:creationId xmlns:a16="http://schemas.microsoft.com/office/drawing/2014/main" id="{79529A01-A8E0-4ACF-9CBD-847E07BC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38500"/>
            <a:ext cx="168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 Team 模板</a:t>
            </a:r>
          </a:p>
        </p:txBody>
      </p:sp>
      <p:sp>
        <p:nvSpPr>
          <p:cNvPr id="43" name="release-body-0">
            <a:extLst xmlns:a="http://schemas.openxmlformats.org/drawingml/2006/main">
              <a:ext uri="{FF2B5EF4-FFF2-40B4-BE49-F238E27FC236}">
                <a16:creationId xmlns:a16="http://schemas.microsoft.com/office/drawing/2014/main" id="{F82B58B3-DB69-4289-A1CC-985DEC62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38550"/>
            <a:ext cx="1685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角色配置、状态机、人工审批门</a:t>
            </a:r>
          </a:p>
        </p:txBody>
      </p:sp>
      <p:sp>
        <p:nvSpPr>
          <p:cNvPr id="44" name="release-1">
            <a:extLst xmlns:a="http://schemas.openxmlformats.org/drawingml/2006/main">
              <a:ext uri="{FF2B5EF4-FFF2-40B4-BE49-F238E27FC236}">
                <a16:creationId xmlns:a16="http://schemas.microsoft.com/office/drawing/2014/main" id="{892BDBAB-B7D2-4EEA-9C2F-1210D955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667000"/>
            <a:ext cx="195262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</p:sp>
      <p:sp>
        <p:nvSpPr>
          <p:cNvPr id="45" name="release-num-1">
            <a:extLst xmlns:a="http://schemas.openxmlformats.org/drawingml/2006/main">
              <a:ext uri="{FF2B5EF4-FFF2-40B4-BE49-F238E27FC236}">
                <a16:creationId xmlns:a16="http://schemas.microsoft.com/office/drawing/2014/main" id="{3E66ED05-22F3-4DE4-AAAF-764ABB97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800350"/>
            <a:ext cx="457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9525">
            <a:solidFill>
              <a:srgbClr val="1B1F3B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46" name="release-title-1">
            <a:extLst xmlns:a="http://schemas.openxmlformats.org/drawingml/2006/main">
              <a:ext uri="{FF2B5EF4-FFF2-40B4-BE49-F238E27FC236}">
                <a16:creationId xmlns:a16="http://schemas.microsoft.com/office/drawing/2014/main" id="{1F138BB6-5ECA-4830-86C9-C3E1619A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38500"/>
            <a:ext cx="168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通用 Skills</a:t>
            </a:r>
          </a:p>
        </p:txBody>
      </p:sp>
      <p:sp>
        <p:nvSpPr>
          <p:cNvPr id="47" name="release-body-1">
            <a:extLst xmlns:a="http://schemas.openxmlformats.org/drawingml/2006/main">
              <a:ext uri="{FF2B5EF4-FFF2-40B4-BE49-F238E27FC236}">
                <a16:creationId xmlns:a16="http://schemas.microsoft.com/office/drawing/2014/main" id="{F32BC3B7-AC2B-4F1D-84C1-DF8F6150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38550"/>
            <a:ext cx="1685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趋势、核查、策略、提词、复盘</a:t>
            </a:r>
          </a:p>
        </p:txBody>
      </p:sp>
      <p:sp>
        <p:nvSpPr>
          <p:cNvPr id="48" name="release-2">
            <a:extLst xmlns:a="http://schemas.openxmlformats.org/drawingml/2006/main">
              <a:ext uri="{FF2B5EF4-FFF2-40B4-BE49-F238E27FC236}">
                <a16:creationId xmlns:a16="http://schemas.microsoft.com/office/drawing/2014/main" id="{DCA4EDBB-BB8F-41CB-A33A-9FDADC6A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67000"/>
            <a:ext cx="195262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</p:sp>
      <p:sp>
        <p:nvSpPr>
          <p:cNvPr id="49" name="release-num-2">
            <a:extLst xmlns:a="http://schemas.openxmlformats.org/drawingml/2006/main">
              <a:ext uri="{FF2B5EF4-FFF2-40B4-BE49-F238E27FC236}">
                <a16:creationId xmlns:a16="http://schemas.microsoft.com/office/drawing/2014/main" id="{35EF0C60-4024-4A7D-AA17-53003360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800350"/>
            <a:ext cx="457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9525">
            <a:solidFill>
              <a:srgbClr val="1B1F3B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50" name="release-title-2">
            <a:extLst xmlns:a="http://schemas.openxmlformats.org/drawingml/2006/main">
              <a:ext uri="{FF2B5EF4-FFF2-40B4-BE49-F238E27FC236}">
                <a16:creationId xmlns:a16="http://schemas.microsoft.com/office/drawing/2014/main" id="{2266B4A2-75E7-43A1-BD15-0A98D80C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38500"/>
            <a:ext cx="168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事件流适配器</a:t>
            </a:r>
          </a:p>
        </p:txBody>
      </p:sp>
      <p:sp>
        <p:nvSpPr>
          <p:cNvPr id="51" name="release-body-2">
            <a:extLst xmlns:a="http://schemas.openxmlformats.org/drawingml/2006/main">
              <a:ext uri="{FF2B5EF4-FFF2-40B4-BE49-F238E27FC236}">
                <a16:creationId xmlns:a16="http://schemas.microsoft.com/office/drawing/2014/main" id="{211DDB58-6F05-4556-98C5-56B2C869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38550"/>
            <a:ext cx="1685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Mock 评论流与统一输入契约</a:t>
            </a:r>
          </a:p>
        </p:txBody>
      </p:sp>
      <p:sp>
        <p:nvSpPr>
          <p:cNvPr id="52" name="release-3">
            <a:extLst xmlns:a="http://schemas.openxmlformats.org/drawingml/2006/main">
              <a:ext uri="{FF2B5EF4-FFF2-40B4-BE49-F238E27FC236}">
                <a16:creationId xmlns:a16="http://schemas.microsoft.com/office/drawing/2014/main" id="{C8EFBBE5-7901-4558-B0B6-FEA75961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667000"/>
            <a:ext cx="195262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</p:sp>
      <p:sp>
        <p:nvSpPr>
          <p:cNvPr id="53" name="release-num-3">
            <a:extLst xmlns:a="http://schemas.openxmlformats.org/drawingml/2006/main">
              <a:ext uri="{FF2B5EF4-FFF2-40B4-BE49-F238E27FC236}">
                <a16:creationId xmlns:a16="http://schemas.microsoft.com/office/drawing/2014/main" id="{DABA3B53-CC67-49EA-980D-DCC6124A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00350"/>
            <a:ext cx="457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9525">
            <a:solidFill>
              <a:srgbClr val="1B1F3B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54" name="release-title-3">
            <a:extLst xmlns:a="http://schemas.openxmlformats.org/drawingml/2006/main">
              <a:ext uri="{FF2B5EF4-FFF2-40B4-BE49-F238E27FC236}">
                <a16:creationId xmlns:a16="http://schemas.microsoft.com/office/drawing/2014/main" id="{7C1ECEE0-ADAF-4465-9B79-13AF4DDD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38500"/>
            <a:ext cx="168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评测场景</a:t>
            </a:r>
          </a:p>
        </p:txBody>
      </p:sp>
      <p:sp>
        <p:nvSpPr>
          <p:cNvPr id="55" name="release-body-3">
            <a:extLst xmlns:a="http://schemas.openxmlformats.org/drawingml/2006/main">
              <a:ext uri="{FF2B5EF4-FFF2-40B4-BE49-F238E27FC236}">
                <a16:creationId xmlns:a16="http://schemas.microsoft.com/office/drawing/2014/main" id="{992CECA2-43A5-4A5B-86C0-6D3BCEBE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638550"/>
            <a:ext cx="1685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误解、谣言、情绪突变、信息不足</a:t>
            </a:r>
          </a:p>
        </p:txBody>
      </p:sp>
      <p:sp>
        <p:nvSpPr>
          <p:cNvPr id="56" name="release-4">
            <a:extLst xmlns:a="http://schemas.openxmlformats.org/drawingml/2006/main">
              <a:ext uri="{FF2B5EF4-FFF2-40B4-BE49-F238E27FC236}">
                <a16:creationId xmlns:a16="http://schemas.microsoft.com/office/drawing/2014/main" id="{168FBAA8-9238-46CF-8525-DACDEF95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667000"/>
            <a:ext cx="195262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</p:sp>
      <p:sp>
        <p:nvSpPr>
          <p:cNvPr id="57" name="release-num-4">
            <a:extLst xmlns:a="http://schemas.openxmlformats.org/drawingml/2006/main">
              <a:ext uri="{FF2B5EF4-FFF2-40B4-BE49-F238E27FC236}">
                <a16:creationId xmlns:a16="http://schemas.microsoft.com/office/drawing/2014/main" id="{A61C8222-CE68-47AC-ADB9-EEC79C40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00350"/>
            <a:ext cx="457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58" name="release-title-4">
            <a:extLst xmlns:a="http://schemas.openxmlformats.org/drawingml/2006/main">
              <a:ext uri="{FF2B5EF4-FFF2-40B4-BE49-F238E27FC236}">
                <a16:creationId xmlns:a16="http://schemas.microsoft.com/office/drawing/2014/main" id="{1571A419-0133-4290-81B6-47AF5C8F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238500"/>
            <a:ext cx="1685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文档与许可证</a:t>
            </a:r>
          </a:p>
        </p:txBody>
      </p:sp>
      <p:sp>
        <p:nvSpPr>
          <p:cNvPr id="59" name="release-body-4">
            <a:extLst xmlns:a="http://schemas.openxmlformats.org/drawingml/2006/main">
              <a:ext uri="{FF2B5EF4-FFF2-40B4-BE49-F238E27FC236}">
                <a16:creationId xmlns:a16="http://schemas.microsoft.com/office/drawing/2014/main" id="{5E74250C-E5B0-4854-9B11-B734E012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638550"/>
            <a:ext cx="16859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Quick Start、示例、依赖清单</a:t>
            </a:r>
          </a:p>
        </p:txBody>
      </p:sp>
      <p:sp>
        <p:nvSpPr>
          <p:cNvPr id="60" name="open-governance">
            <a:extLst xmlns:a="http://schemas.openxmlformats.org/drawingml/2006/main">
              <a:ext uri="{FF2B5EF4-FFF2-40B4-BE49-F238E27FC236}">
                <a16:creationId xmlns:a16="http://schemas.microsoft.com/office/drawing/2014/main" id="{A06594B3-1F5B-4D8D-A1E0-206F0632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10572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9525">
            <a:solidFill>
              <a:srgbClr val="1B1F3B"/>
            </a:solidFill>
            <a:prstDash val="solid"/>
          </a:ln>
        </p:spPr>
        <p:txBody>
          <a:bodyPr xmlns:a="http://schemas.openxmlformats.org/drawingml/2006/main" lIns="95250" tIns="85725" rIns="95250" bIns="85725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治理计划｜Apache-2.0 许可 · Skill 契约版本化 · 第三方依赖清单 · 不发布真实活动隐私数据</a:t>
            </a:r>
          </a:p>
        </p:txBody>
      </p:sp>
    </p:spTree>
    <p:extLst>
      <p:ext uri="{BB962C8B-B14F-4D97-AF65-F5344CB8AC3E}">
        <p14:creationId xmlns:p14="http://schemas.microsoft.com/office/powerpoint/2010/main" val="16273342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308DFB7-D069-46AC-96A7-DF0C97AF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16</a:t>
            </a:r>
            <a:endParaRPr sz="1000"/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BCAE58A1-891D-4CB9-BBCF-69038B9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2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对应「当前进展」与整体可行性</a:t>
            </a:r>
            <a:endParaRPr sz="12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F4F2695C-1C1C-44C0-A982-6A68BFD5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落地计划与进展</a:t>
            </a:r>
            <a:endParaRPr sz="2900"/>
          </a:p>
        </p:txBody>
      </p:sp>
    </p:spTree>
    <p:extLst>
      <p:ext uri="{BB962C8B-B14F-4D97-AF65-F5344CB8AC3E}">
        <p14:creationId xmlns:p14="http://schemas.microsoft.com/office/powerpoint/2010/main" val="78409226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3D8B5D3-5A7B-4442-A736-9AF8A987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对应「当前进展」与整体可行性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33B45B8-DA66-4A16-914A-18A3EA64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落地计划与进展</a:t>
            </a:r>
            <a:endParaRPr sz="29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A4E1C7D-94DB-483D-89E7-DC27D420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1000"/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71BFEA80-5069-405F-B208-A6DCA573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57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原创 LivePR MVP 已跑通模拟闭环：未审批则停止，批准后交付补救台词并复盘。下一步验证实时音频、授权资料 RAG 与 30 秒应急 Demo。</a:t>
            </a:r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progress-done-box">
            <a:extLst xmlns:a="http://schemas.openxmlformats.org/drawingml/2006/main">
              <a:ext uri="{FF2B5EF4-FFF2-40B4-BE49-F238E27FC236}">
                <a16:creationId xmlns:a16="http://schemas.microsoft.com/office/drawing/2014/main" id="{EA999772-E2D0-458E-A0A8-2177986C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49149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BCE8CF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5A66A"/>
                </a:solidFill>
              </a:rPr>
              <a:t>当前已验证</a:t>
            </a:r>
          </a:p>
          <a:p xmlns:a="http://schemas.openxmlformats.org/drawingml/2006/main">
            <a:pPr algn="l">
              <a:def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✓ 7 Agent + Team Leader / 6 Skills
✓ 2 个模拟事件复用同一状态机
✓ 4 项测试：审批门与回退通过
✓ HTTP 网关 + Trace + HTML 大屏</a:t>
            </a:r>
          </a:p>
        </p:txBody>
      </p:sp>
      <p:sp>
        <p:nvSpPr>
          <p:cNvPr id="40" name="progress-next-box">
            <a:extLst xmlns:a="http://schemas.openxmlformats.org/drawingml/2006/main">
              <a:ext uri="{FF2B5EF4-FFF2-40B4-BE49-F238E27FC236}">
                <a16:creationId xmlns:a16="http://schemas.microsoft.com/office/drawing/2014/main" id="{E84E981D-CF2C-4D46-8A4F-AE7B37B0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49149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6F7FB"/>
          </a:solidFill>
          <a:ln xmlns:a="http://schemas.openxmlformats.org/drawingml/2006/main" w="9525">
            <a:solidFill>
              <a:srgbClr val="DCE1EB"/>
            </a:solidFill>
            <a:prstDash val="solid"/>
          </a:ln>
        </p:spPr>
        <p:txBody>
          <a:bodyPr xmlns:a="http://schemas.openxmlformats.org/drawingml/2006/main" lIns="133350" tIns="95250" rIns="133350" bIns="76200" anchor="t"/>
          <a:lstStyle xmlns:a="http://schemas.openxmlformats.org/drawingml/2006/main"/>
          <a:p xmlns:a="http://schemas.openxmlformats.org/drawingml/2006/main">
            <a:pPr algn="l">
              <a:spcAft>
                <a:spcPts val="4"/>
              </a:spcAft>
              <a:defRPr sz="105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B1F3B"/>
                </a:solidFill>
              </a:rPr>
              <a:t>可运行 Demo 三阶段计划</a:t>
            </a:r>
          </a:p>
          <a:p xmlns:a="http://schemas.openxmlformats.org/drawingml/2006/main">
            <a:pPr algn="l">
              <a:defRPr sz="105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t>M1｜接入实时音频/字幕与授权资料 RAG
M2｜替换为 AgentTeams Worker，评测延迟/成本/稳定性
M3｜完成30秒应急演练、2–3分钟演示视频与授权活动试点</a:t>
            </a:r>
          </a:p>
        </p:txBody>
      </p:sp>
      <p:sp>
        <p:nvSpPr>
          <p:cNvPr id="41" name="roadmap-heading">
            <a:extLst xmlns:a="http://schemas.openxmlformats.org/drawingml/2006/main">
              <a:ext uri="{FF2B5EF4-FFF2-40B4-BE49-F238E27FC236}">
                <a16:creationId xmlns:a16="http://schemas.microsoft.com/office/drawing/2014/main" id="{794A4C6E-ADE4-4B25-A7B8-90DA9FC0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622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真实运行截图：审批后进入 closed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18c4cfa4e4e8c"/>
          <a:stretch xmlns:a="http://schemas.openxmlformats.org/drawingml/2006/main"/>
        </p:blipFill>
        <p:spPr>
          <a:xfrm xmlns:a="http://schemas.openxmlformats.org/drawingml/2006/main">
            <a:off x="6477000" y="2800648"/>
            <a:ext cx="4857750" cy="2580680"/>
          </a:xfrm>
          <a:prstGeom xmlns:a="http://schemas.openxmlformats.org/drawingml/2006/main" prst="roundRect">
            <a:avLst>
              <a:gd name="adj" fmla="val 2952"/>
            </a:avLst>
          </a:prstGeom>
        </p:spPr>
      </p:pic>
      <p:sp>
        <p:nvSpPr>
          <p:cNvPr id="43" name="roadmap-risk">
            <a:extLst xmlns:a="http://schemas.openxmlformats.org/drawingml/2006/main">
              <a:ext uri="{FF2B5EF4-FFF2-40B4-BE49-F238E27FC236}">
                <a16:creationId xmlns:a16="http://schemas.microsoft.com/office/drawing/2014/main" id="{1AF21FEA-26AB-458D-AD75-CDF601AD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24500"/>
            <a:ext cx="4857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F6B9BA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84C4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E84C4F"/>
                </a:solidFill>
                <a:latin typeface="微软雅黑"/>
                <a:ea typeface="微软雅黑"/>
                <a:cs typeface="微软雅黑"/>
              </a:rPr>
              <a:t>模拟数据，不代表真实因果｜真实发布仍需授权、脱敏与人工审批</a:t>
            </a:r>
          </a:p>
        </p:txBody>
      </p:sp>
    </p:spTree>
    <p:extLst>
      <p:ext uri="{BB962C8B-B14F-4D97-AF65-F5344CB8AC3E}">
        <p14:creationId xmlns:p14="http://schemas.microsoft.com/office/powerpoint/2010/main" val="9880488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A570695-E9C9-41B1-BFDD-C4BB5B1C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1000"/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F0EA165A-5560-4D41-9B98-136805DA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2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第八章</a:t>
            </a:r>
            <a:endParaRPr sz="12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7A0E04DA-2ED7-4592-9B38-7BC8DA4B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团队</a:t>
            </a: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介绍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7842637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C131529-DF0F-4221-8E07-E93BFE23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八</a:t>
            </a: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章 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A95528A-751F-4542-B94B-2346981F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团队</a:t>
            </a: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介绍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am-kicker">
            <a:extLst xmlns:a="http://schemas.openxmlformats.org/drawingml/2006/main">
              <a:ext uri="{FF2B5EF4-FFF2-40B4-BE49-F238E27FC236}">
                <a16:creationId xmlns:a16="http://schemas.microsoft.com/office/drawing/2014/main" id="{AE7B72DF-573F-49C5-AB6E-DE2B5C8A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舆情宝 LivePR Team｜核心成员 3 人</a:t>
            </a:r>
          </a:p>
        </p:txBody>
      </p:sp>
      <p:sp>
        <p:nvSpPr>
          <p:cNvPr id="5" name="team-thesis">
            <a:extLst xmlns:a="http://schemas.openxmlformats.org/drawingml/2006/main">
              <a:ext uri="{FF2B5EF4-FFF2-40B4-BE49-F238E27FC236}">
                <a16:creationId xmlns:a16="http://schemas.microsoft.com/office/drawing/2014/main" id="{8123E084-BBC9-423C-8B34-454B9087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240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现场策略 × AIGC 视频 × 视觉内容，形成完整表达闭环</a:t>
            </a:r>
          </a:p>
        </p:txBody>
      </p:sp>
      <p:sp>
        <p:nvSpPr>
          <p:cNvPr id="6" name="team-rule">
            <a:extLst xmlns:a="http://schemas.openxmlformats.org/drawingml/2006/main">
              <a:ext uri="{FF2B5EF4-FFF2-40B4-BE49-F238E27FC236}">
                <a16:creationId xmlns:a16="http://schemas.microsoft.com/office/drawing/2014/main" id="{CC37AF2A-ED16-4F8A-9590-D7D3A91C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am-01-number">
            <a:extLst xmlns:a="http://schemas.openxmlformats.org/drawingml/2006/main">
              <a:ext uri="{FF2B5EF4-FFF2-40B4-BE49-F238E27FC236}">
                <a16:creationId xmlns:a16="http://schemas.microsoft.com/office/drawing/2014/main" id="{A5E623F2-1950-4EA9-AF89-0400730E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52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am-01-name">
            <a:extLst xmlns:a="http://schemas.openxmlformats.org/drawingml/2006/main">
              <a:ext uri="{FF2B5EF4-FFF2-40B4-BE49-F238E27FC236}">
                <a16:creationId xmlns:a16="http://schemas.microsoft.com/office/drawing/2014/main" id="{C12CEEF4-AD95-4003-AA3C-08AEB5E7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扶瑀琪</a:t>
            </a:r>
          </a:p>
        </p:txBody>
      </p:sp>
      <p:sp>
        <p:nvSpPr>
          <p:cNvPr id="9" name="team-01-role">
            <a:extLst xmlns:a="http://schemas.openxmlformats.org/drawingml/2006/main">
              <a:ext uri="{FF2B5EF4-FFF2-40B4-BE49-F238E27FC236}">
                <a16:creationId xmlns:a16="http://schemas.microsoft.com/office/drawing/2014/main" id="{D014FA9F-AA68-4BF4-9EC9-262B12E0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项目负责人｜产品与现场策略</a:t>
            </a:r>
          </a:p>
        </p:txBody>
      </p:sp>
      <p:sp>
        <p:nvSpPr>
          <p:cNvPr id="10" name="team-01-background">
            <a:extLst xmlns:a="http://schemas.openxmlformats.org/drawingml/2006/main">
              <a:ext uri="{FF2B5EF4-FFF2-40B4-BE49-F238E27FC236}">
                <a16:creationId xmlns:a16="http://schemas.microsoft.com/office/drawing/2014/main" id="{9B8BCA75-8228-41DE-9F18-D9C65F59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墨矩科技有限公司</a:t>
            </a:r>
          </a:p>
          <a:p xmlns:a="http://schemas.openxmlformats.org/drawingml/2006/main">
            <a:pPr algn="l">
              <a:def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湖南龙腾图跃科技有限公司</a:t>
            </a:r>
          </a:p>
        </p:txBody>
      </p:sp>
      <p:sp>
        <p:nvSpPr>
          <p:cNvPr id="11" name="team-01-skill">
            <a:extLst xmlns:a="http://schemas.openxmlformats.org/drawingml/2006/main">
              <a:ext uri="{FF2B5EF4-FFF2-40B4-BE49-F238E27FC236}">
                <a16:creationId xmlns:a16="http://schemas.microsoft.com/office/drawing/2014/main" id="{DDE5800E-0364-4A5F-A686-7306E78B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rPr>
              <a:t>地理信息测绘 · 湘超数字地图设计</a:t>
            </a:r>
          </a:p>
        </p:txBody>
      </p:sp>
      <p:sp>
        <p:nvSpPr>
          <p:cNvPr id="12" name="team-01-work-label">
            <a:extLst xmlns:a="http://schemas.openxmlformats.org/drawingml/2006/main">
              <a:ext uri="{FF2B5EF4-FFF2-40B4-BE49-F238E27FC236}">
                <a16:creationId xmlns:a16="http://schemas.microsoft.com/office/drawing/2014/main" id="{77C2378A-D1D3-4899-AD6C-1BF31BBF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43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879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7E879B"/>
                </a:solidFill>
                <a:latin typeface="微软雅黑"/>
                <a:ea typeface="微软雅黑"/>
                <a:cs typeface="微软雅黑"/>
              </a:rPr>
              <a:t>团队分工</a:t>
            </a:r>
          </a:p>
        </p:txBody>
      </p:sp>
      <p:sp>
        <p:nvSpPr>
          <p:cNvPr id="13" name="team-01-work">
            <a:extLst xmlns:a="http://schemas.openxmlformats.org/drawingml/2006/main">
              <a:ext uri="{FF2B5EF4-FFF2-40B4-BE49-F238E27FC236}">
                <a16:creationId xmlns:a16="http://schemas.microsoft.com/office/drawing/2014/main" id="{8E099B1B-56BF-410C-981B-EE1837D7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9107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需求与产品方向</a:t>
            </a:r>
          </a:p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舆情策略与主持决策</a:t>
            </a:r>
          </a:p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演示组织与项目推进</a:t>
            </a:r>
          </a:p>
        </p:txBody>
      </p:sp>
      <p:sp>
        <p:nvSpPr>
          <p:cNvPr id="14" name="team-02-number">
            <a:extLst xmlns:a="http://schemas.openxmlformats.org/drawingml/2006/main">
              <a:ext uri="{FF2B5EF4-FFF2-40B4-BE49-F238E27FC236}">
                <a16:creationId xmlns:a16="http://schemas.microsoft.com/office/drawing/2014/main" id="{71DB9158-00A0-486A-BEB6-B8D409DC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52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6B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4F6B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am-02-name">
            <a:extLst xmlns:a="http://schemas.openxmlformats.org/drawingml/2006/main">
              <a:ext uri="{FF2B5EF4-FFF2-40B4-BE49-F238E27FC236}">
                <a16:creationId xmlns:a16="http://schemas.microsoft.com/office/drawing/2014/main" id="{9201863B-932A-4EB5-A145-86802937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09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欧阳劲汝</a:t>
            </a:r>
          </a:p>
        </p:txBody>
      </p:sp>
      <p:sp>
        <p:nvSpPr>
          <p:cNvPr id="16" name="team-02-role">
            <a:extLst xmlns:a="http://schemas.openxmlformats.org/drawingml/2006/main">
              <a:ext uri="{FF2B5EF4-FFF2-40B4-BE49-F238E27FC236}">
                <a16:creationId xmlns:a16="http://schemas.microsoft.com/office/drawing/2014/main" id="{0E610DCB-B956-4F1F-8CAD-10F0CBE6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00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6B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4F6BFF"/>
                </a:solidFill>
                <a:latin typeface="微软雅黑"/>
                <a:ea typeface="微软雅黑"/>
                <a:cs typeface="微软雅黑"/>
              </a:rPr>
              <a:t>AIGC 视频制作</a:t>
            </a:r>
          </a:p>
        </p:txBody>
      </p:sp>
      <p:sp>
        <p:nvSpPr>
          <p:cNvPr id="17" name="team-02-background">
            <a:extLst xmlns:a="http://schemas.openxmlformats.org/drawingml/2006/main">
              <a:ext uri="{FF2B5EF4-FFF2-40B4-BE49-F238E27FC236}">
                <a16:creationId xmlns:a16="http://schemas.microsoft.com/office/drawing/2014/main" id="{FA6E959A-B614-454D-84F3-A0B4129E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90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墨矩科技有限公司</a:t>
            </a:r>
          </a:p>
        </p:txBody>
      </p:sp>
      <p:sp>
        <p:nvSpPr>
          <p:cNvPr id="18" name="team-02-skill">
            <a:extLst xmlns:a="http://schemas.openxmlformats.org/drawingml/2006/main">
              <a:ext uri="{FF2B5EF4-FFF2-40B4-BE49-F238E27FC236}">
                <a16:creationId xmlns:a16="http://schemas.microsoft.com/office/drawing/2014/main" id="{8928ECD1-0D1F-4953-89C9-43BD0F66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00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rPr>
              <a:t>擅长 AIGC 视频制作</a:t>
            </a:r>
          </a:p>
        </p:txBody>
      </p:sp>
      <p:sp>
        <p:nvSpPr>
          <p:cNvPr id="19" name="team-02-work-label">
            <a:extLst xmlns:a="http://schemas.openxmlformats.org/drawingml/2006/main">
              <a:ext uri="{FF2B5EF4-FFF2-40B4-BE49-F238E27FC236}">
                <a16:creationId xmlns:a16="http://schemas.microsoft.com/office/drawing/2014/main" id="{0B1FA70E-0B07-47FA-A750-53DFF91C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43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879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7E879B"/>
                </a:solidFill>
                <a:latin typeface="微软雅黑"/>
                <a:ea typeface="微软雅黑"/>
                <a:cs typeface="微软雅黑"/>
              </a:rPr>
              <a:t>团队分工</a:t>
            </a:r>
          </a:p>
        </p:txBody>
      </p:sp>
      <p:sp>
        <p:nvSpPr>
          <p:cNvPr id="20" name="team-02-work">
            <a:extLst xmlns:a="http://schemas.openxmlformats.org/drawingml/2006/main">
              <a:ext uri="{FF2B5EF4-FFF2-40B4-BE49-F238E27FC236}">
                <a16:creationId xmlns:a16="http://schemas.microsoft.com/office/drawing/2014/main" id="{1A682EB5-466D-434B-B402-3A3BB4D9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79107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视频创意与生成</a:t>
            </a:r>
          </a:p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AI 素材生产</a:t>
            </a:r>
          </a:p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动态影像制作</a:t>
            </a:r>
          </a:p>
        </p:txBody>
      </p:sp>
      <p:sp>
        <p:nvSpPr>
          <p:cNvPr id="21" name="team-03-number">
            <a:extLst xmlns:a="http://schemas.openxmlformats.org/drawingml/2006/main">
              <a:ext uri="{FF2B5EF4-FFF2-40B4-BE49-F238E27FC236}">
                <a16:creationId xmlns:a16="http://schemas.microsoft.com/office/drawing/2014/main" id="{8638C96E-34BB-49C5-9775-0B36CA54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526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5CE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7C5CE5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2" name="team-03-name">
            <a:extLst xmlns:a="http://schemas.openxmlformats.org/drawingml/2006/main">
              <a:ext uri="{FF2B5EF4-FFF2-40B4-BE49-F238E27FC236}">
                <a16:creationId xmlns:a16="http://schemas.microsoft.com/office/drawing/2014/main" id="{EAE9F568-8487-4765-BF92-2D4BEC76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09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张佳佳</a:t>
            </a:r>
          </a:p>
        </p:txBody>
      </p:sp>
      <p:sp>
        <p:nvSpPr>
          <p:cNvPr id="23" name="team-03-role">
            <a:extLst xmlns:a="http://schemas.openxmlformats.org/drawingml/2006/main">
              <a:ext uri="{FF2B5EF4-FFF2-40B4-BE49-F238E27FC236}">
                <a16:creationId xmlns:a16="http://schemas.microsoft.com/office/drawing/2014/main" id="{B67D6423-B819-46A2-BD6C-D7476E34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03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5CE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7C5CE5"/>
                </a:solidFill>
                <a:latin typeface="微软雅黑"/>
                <a:ea typeface="微软雅黑"/>
                <a:cs typeface="微软雅黑"/>
              </a:rPr>
              <a:t>视觉内容负责人 &amp; AIGC 内容主创</a:t>
            </a:r>
          </a:p>
        </p:txBody>
      </p:sp>
      <p:sp>
        <p:nvSpPr>
          <p:cNvPr id="24" name="team-03-background">
            <a:extLst xmlns:a="http://schemas.openxmlformats.org/drawingml/2006/main">
              <a:ext uri="{FF2B5EF4-FFF2-40B4-BE49-F238E27FC236}">
                <a16:creationId xmlns:a16="http://schemas.microsoft.com/office/drawing/2014/main" id="{24A40355-0457-4605-B1D4-AE65EB39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湖南软件职业技术大学</a:t>
            </a:r>
          </a:p>
          <a:p xmlns:a="http://schemas.openxmlformats.org/drawingml/2006/main">
            <a:pPr algn="l">
              <a:def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数字影像设计专业本科</a:t>
            </a:r>
          </a:p>
        </p:txBody>
      </p:sp>
      <p:sp>
        <p:nvSpPr>
          <p:cNvPr id="25" name="team-03-skill">
            <a:extLst xmlns:a="http://schemas.openxmlformats.org/drawingml/2006/main">
              <a:ext uri="{FF2B5EF4-FFF2-40B4-BE49-F238E27FC236}">
                <a16:creationId xmlns:a16="http://schemas.microsoft.com/office/drawing/2014/main" id="{66CAEA14-32C2-4796-A452-C63FEA41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005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rPr>
              <a:t>PS · Blender · AE · 达芬奇 · PR</a:t>
            </a:r>
          </a:p>
          <a:p xmlns:a="http://schemas.openxmlformats.org/drawingml/2006/main">
            <a:pPr algn="l">
              <a:def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rPr>
              <a:t>视觉设计 · 数字影像 · AIGC 图像 / AI 短剧</a:t>
            </a:r>
          </a:p>
          <a:p xmlns:a="http://schemas.openxmlformats.org/drawingml/2006/main">
            <a:pPr algn="l">
              <a:def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rPr>
              <a:t>Vibe-Design · Vibe-coding</a:t>
            </a:r>
          </a:p>
        </p:txBody>
      </p:sp>
      <p:sp>
        <p:nvSpPr>
          <p:cNvPr id="26" name="team-03-work-label">
            <a:extLst xmlns:a="http://schemas.openxmlformats.org/drawingml/2006/main">
              <a:ext uri="{FF2B5EF4-FFF2-40B4-BE49-F238E27FC236}">
                <a16:creationId xmlns:a16="http://schemas.microsoft.com/office/drawing/2014/main" id="{32846DE0-00C6-4561-9D1E-45974C95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625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879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7E879B"/>
                </a:solidFill>
                <a:latin typeface="微软雅黑"/>
                <a:ea typeface="微软雅黑"/>
                <a:cs typeface="微软雅黑"/>
              </a:rPr>
              <a:t>团队分工</a:t>
            </a:r>
          </a:p>
        </p:txBody>
      </p:sp>
      <p:sp>
        <p:nvSpPr>
          <p:cNvPr id="27" name="team-03-work">
            <a:extLst xmlns:a="http://schemas.openxmlformats.org/drawingml/2006/main">
              <a:ext uri="{FF2B5EF4-FFF2-40B4-BE49-F238E27FC236}">
                <a16:creationId xmlns:a16="http://schemas.microsoft.com/office/drawing/2014/main" id="{641FBEA5-C286-4045-85F4-18DB43D5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911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视觉方案、AI 素材、分镜脚本</a:t>
            </a:r>
          </a:p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剪辑与动态特效、内容迭代</a:t>
            </a:r>
          </a:p>
        </p:txBody>
      </p:sp>
      <p:sp>
        <p:nvSpPr>
          <p:cNvPr id="28" name="team-separator-1">
            <a:extLst xmlns:a="http://schemas.openxmlformats.org/drawingml/2006/main">
              <a:ext uri="{FF2B5EF4-FFF2-40B4-BE49-F238E27FC236}">
                <a16:creationId xmlns:a16="http://schemas.microsoft.com/office/drawing/2014/main" id="{0E6B726D-4B49-40E3-9F23-3640E01C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36220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am-separator-2">
            <a:extLst xmlns:a="http://schemas.openxmlformats.org/drawingml/2006/main">
              <a:ext uri="{FF2B5EF4-FFF2-40B4-BE49-F238E27FC236}">
                <a16:creationId xmlns:a16="http://schemas.microsoft.com/office/drawing/2014/main" id="{BFA6FE05-6F1F-4200-9A42-AAD35F49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6220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am-loop">
            <a:extLst xmlns:a="http://schemas.openxmlformats.org/drawingml/2006/main">
              <a:ext uri="{FF2B5EF4-FFF2-40B4-BE49-F238E27FC236}">
                <a16:creationId xmlns:a16="http://schemas.microsoft.com/office/drawing/2014/main" id="{B4E82E96-5DC6-4F12-8F74-4EE323E2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1010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9525">
            <a:solidFill>
              <a:srgbClr val="1B1F3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协作闭环｜场景定义与决策 → AIGC 视频生产 → 视觉包装与内容迭代</a:t>
            </a:r>
          </a:p>
        </p:txBody>
      </p:sp>
    </p:spTree>
    <p:extLst>
      <p:ext uri="{BB962C8B-B14F-4D97-AF65-F5344CB8AC3E}">
        <p14:creationId xmlns:p14="http://schemas.microsoft.com/office/powerpoint/2010/main" val="95290346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C131529-DF0F-4221-8E07-E93BFE23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八</a:t>
            </a: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章 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A95528A-751F-4542-B94B-2346981F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成员成果与项目积累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achievement-kicker">
            <a:extLst xmlns:a="http://schemas.openxmlformats.org/drawingml/2006/main">
              <a:ext uri="{FF2B5EF4-FFF2-40B4-BE49-F238E27FC236}">
                <a16:creationId xmlns:a16="http://schemas.microsoft.com/office/drawing/2014/main" id="{A1AD6BCC-E128-496B-9D50-E01399A3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张佳佳｜竞赛获奖</a:t>
            </a:r>
          </a:p>
        </p:txBody>
      </p:sp>
      <p:sp>
        <p:nvSpPr>
          <p:cNvPr id="5" name="portfolio-kicker">
            <a:extLst xmlns:a="http://schemas.openxmlformats.org/drawingml/2006/main">
              <a:ext uri="{FF2B5EF4-FFF2-40B4-BE49-F238E27FC236}">
                <a16:creationId xmlns:a16="http://schemas.microsoft.com/office/drawing/2014/main" id="{ADECF89E-39BF-4FD6-B31C-206F154F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4954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F6B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F6BFF"/>
                </a:solidFill>
                <a:latin typeface="微软雅黑"/>
                <a:ea typeface="微软雅黑"/>
                <a:cs typeface="微软雅黑"/>
              </a:rPr>
              <a:t>团队成果与作品</a:t>
            </a:r>
          </a:p>
        </p:txBody>
      </p:sp>
      <p:sp>
        <p:nvSpPr>
          <p:cNvPr id="6" name="achievement-divider">
            <a:extLst xmlns:a="http://schemas.openxmlformats.org/drawingml/2006/main">
              <a:ext uri="{FF2B5EF4-FFF2-40B4-BE49-F238E27FC236}">
                <a16:creationId xmlns:a16="http://schemas.microsoft.com/office/drawing/2014/main" id="{1FB2CF37-7CE1-440E-B6F6-FDAA872F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04950"/>
            <a:ext cx="9525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ward-01">
            <a:extLst xmlns:a="http://schemas.openxmlformats.org/drawingml/2006/main">
              <a:ext uri="{FF2B5EF4-FFF2-40B4-BE49-F238E27FC236}">
                <a16:creationId xmlns:a16="http://schemas.microsoft.com/office/drawing/2014/main" id="{80267792-FC30-4D90-A54C-F2A91B20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award-01-title">
            <a:extLst xmlns:a="http://schemas.openxmlformats.org/drawingml/2006/main">
              <a:ext uri="{FF2B5EF4-FFF2-40B4-BE49-F238E27FC236}">
                <a16:creationId xmlns:a16="http://schemas.microsoft.com/office/drawing/2014/main" id="{294B9CB9-11F0-4AFC-AA8D-C6EC77D53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5262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第二届“金种子”校园大赛一等奖</a:t>
            </a:r>
          </a:p>
        </p:txBody>
      </p:sp>
      <p:sp>
        <p:nvSpPr>
          <p:cNvPr id="9" name="award-01-detail">
            <a:extLst xmlns:a="http://schemas.openxmlformats.org/drawingml/2006/main">
              <a:ext uri="{FF2B5EF4-FFF2-40B4-BE49-F238E27FC236}">
                <a16:creationId xmlns:a16="http://schemas.microsoft.com/office/drawing/2014/main" id="{704F38D1-E823-4AA5-90E3-A5A31A46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3837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AI+银发经济 · 老友时光纪银发生态产业链服务项目</a:t>
            </a:r>
          </a:p>
        </p:txBody>
      </p:sp>
      <p:sp>
        <p:nvSpPr>
          <p:cNvPr id="10" name="award-02">
            <a:extLst xmlns:a="http://schemas.openxmlformats.org/drawingml/2006/main">
              <a:ext uri="{FF2B5EF4-FFF2-40B4-BE49-F238E27FC236}">
                <a16:creationId xmlns:a16="http://schemas.microsoft.com/office/drawing/2014/main" id="{7F713D61-4F59-4BAB-B48C-9C82C382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award-02-title">
            <a:extLst xmlns:a="http://schemas.openxmlformats.org/drawingml/2006/main">
              <a:ext uri="{FF2B5EF4-FFF2-40B4-BE49-F238E27FC236}">
                <a16:creationId xmlns:a16="http://schemas.microsoft.com/office/drawing/2014/main" id="{A174ACDA-86F8-47DE-80EE-65716737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5747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“光影创新”第三届湖南省微电影大赛</a:t>
            </a:r>
          </a:p>
        </p:txBody>
      </p:sp>
      <p:sp>
        <p:nvSpPr>
          <p:cNvPr id="12" name="award-02-detail">
            <a:extLst xmlns:a="http://schemas.openxmlformats.org/drawingml/2006/main">
              <a:ext uri="{FF2B5EF4-FFF2-40B4-BE49-F238E27FC236}">
                <a16:creationId xmlns:a16="http://schemas.microsoft.com/office/drawing/2014/main" id="{2BB192CF-948E-4195-9622-C7A41CC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4322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优秀作品奖</a:t>
            </a:r>
          </a:p>
        </p:txBody>
      </p:sp>
      <p:sp>
        <p:nvSpPr>
          <p:cNvPr id="13" name="award-03">
            <a:extLst xmlns:a="http://schemas.openxmlformats.org/drawingml/2006/main">
              <a:ext uri="{FF2B5EF4-FFF2-40B4-BE49-F238E27FC236}">
                <a16:creationId xmlns:a16="http://schemas.microsoft.com/office/drawing/2014/main" id="{1922F9F4-2155-42BC-976C-5D3736C9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813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award-03-title">
            <a:extLst xmlns:a="http://schemas.openxmlformats.org/drawingml/2006/main">
              <a:ext uri="{FF2B5EF4-FFF2-40B4-BE49-F238E27FC236}">
                <a16:creationId xmlns:a16="http://schemas.microsoft.com/office/drawing/2014/main" id="{43A9461E-D4D1-426F-9CDB-A968DDBD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62325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湖南省第十届网络原创视听节目大赛</a:t>
            </a:r>
          </a:p>
        </p:txBody>
      </p:sp>
      <p:sp>
        <p:nvSpPr>
          <p:cNvPr id="15" name="award-03-detail">
            <a:extLst xmlns:a="http://schemas.openxmlformats.org/drawingml/2006/main">
              <a:ext uri="{FF2B5EF4-FFF2-40B4-BE49-F238E27FC236}">
                <a16:creationId xmlns:a16="http://schemas.microsoft.com/office/drawing/2014/main" id="{D27382F1-61A2-417A-867C-72AED596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542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《来湖南，创业吧》三等奖</a:t>
            </a:r>
          </a:p>
        </p:txBody>
      </p:sp>
      <p:sp>
        <p:nvSpPr>
          <p:cNvPr id="16" name="experience-rule">
            <a:extLst xmlns:a="http://schemas.openxmlformats.org/drawingml/2006/main">
              <a:ext uri="{FF2B5EF4-FFF2-40B4-BE49-F238E27FC236}">
                <a16:creationId xmlns:a16="http://schemas.microsoft.com/office/drawing/2014/main" id="{AFD84FB0-3DCA-4089-9C60-A8B22891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586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xperience-heading">
            <a:extLst xmlns:a="http://schemas.openxmlformats.org/drawingml/2006/main">
              <a:ext uri="{FF2B5EF4-FFF2-40B4-BE49-F238E27FC236}">
                <a16:creationId xmlns:a16="http://schemas.microsoft.com/office/drawing/2014/main" id="{1C34945B-B840-4449-AA1B-BD9D0CCF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项目与实习经历</a:t>
            </a:r>
          </a:p>
        </p:txBody>
      </p:sp>
      <p:sp>
        <p:nvSpPr>
          <p:cNvPr id="18" name="experience-1">
            <a:extLst xmlns:a="http://schemas.openxmlformats.org/drawingml/2006/main">
              <a:ext uri="{FF2B5EF4-FFF2-40B4-BE49-F238E27FC236}">
                <a16:creationId xmlns:a16="http://schemas.microsoft.com/office/drawing/2014/main" id="{D00C504F-FEFC-4260-866D-72B425D7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586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光年尘序传媒线上实习｜参与《训兽之王》等 2 项上线 AI 漫剧，负责溶图合成与视频剪辑；作品于红果平台播出。</a:t>
            </a:r>
          </a:p>
        </p:txBody>
      </p:sp>
      <p:sp>
        <p:nvSpPr>
          <p:cNvPr id="19" name="experience-2">
            <a:extLst xmlns:a="http://schemas.openxmlformats.org/drawingml/2006/main">
              <a:ext uri="{FF2B5EF4-FFF2-40B4-BE49-F238E27FC236}">
                <a16:creationId xmlns:a16="http://schemas.microsoft.com/office/drawing/2014/main" id="{5A8A3B3D-0997-4963-B582-C4702A3A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0175"/>
            <a:ext cx="586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湘潭谷田科技｜短视频账号全链路内容主创，独立完成编导、拍摄、剪辑与账号增长流程。</a:t>
            </a:r>
          </a:p>
        </p:txBody>
      </p:sp>
      <p:sp>
        <p:nvSpPr>
          <p:cNvPr id="20" name="training">
            <a:extLst xmlns:a="http://schemas.openxmlformats.org/drawingml/2006/main">
              <a:ext uri="{FF2B5EF4-FFF2-40B4-BE49-F238E27FC236}">
                <a16:creationId xmlns:a16="http://schemas.microsoft.com/office/drawing/2014/main" id="{DFF077B1-AD78-4F71-841C-940ACE8C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9775"/>
            <a:ext cx="586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5CE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7C5CE5"/>
                </a:solidFill>
                <a:latin typeface="微软雅黑"/>
                <a:ea typeface="微软雅黑"/>
                <a:cs typeface="微软雅黑"/>
              </a:rPr>
              <a:t>技能训练｜完成“通往 AGI 之路”AI 短剧训练营并获结业证书。</a:t>
            </a:r>
          </a:p>
        </p:txBody>
      </p:sp>
      <p:sp>
        <p:nvSpPr>
          <p:cNvPr id="21" name="champion-project">
            <a:extLst xmlns:a="http://schemas.openxmlformats.org/drawingml/2006/main">
              <a:ext uri="{FF2B5EF4-FFF2-40B4-BE49-F238E27FC236}">
                <a16:creationId xmlns:a16="http://schemas.microsoft.com/office/drawing/2014/main" id="{7AA40A85-A2E2-4EA1-9297-43040B9F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43100"/>
            <a:ext cx="43053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2EB"/>
          </a:solidFill>
          <a:ln xmlns:a="http://schemas.openxmlformats.org/drawingml/2006/main" w="9525">
            <a:solidFill>
              <a:srgbClr val="FFD0BE"/>
            </a:solidFill>
            <a:prstDash val="solid"/>
          </a:ln>
        </p:spPr>
        <p:txBody>
          <a:bodyPr xmlns:a="http://schemas.openxmlformats.org/drawingml/2006/main" lIns="133350" tIns="95250" rIns="133350" bIns="95250" anchor="ctr"/>
          <a:lstStyle xmlns:a="http://schemas.openxmlformats.org/drawingml/2006/main"/>
          <a:p xmlns:a="http://schemas.openxmlformats.org/drawingml/2006/main">
            <a:pPr algn="l">
              <a:spcAft>
                <a:spcPts val="6"/>
              </a:spcAft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逃离 LEV0｜黑客松冠军</a:t>
            </a:r>
          </a:p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五关卡异常监控互动闯关游戏（项目方提供）</a:t>
            </a:r>
          </a:p>
        </p:txBody>
      </p:sp>
      <p:sp>
        <p:nvSpPr>
          <p:cNvPr id="22" name="project-heading">
            <a:extLst xmlns:a="http://schemas.openxmlformats.org/drawingml/2006/main">
              <a:ext uri="{FF2B5EF4-FFF2-40B4-BE49-F238E27FC236}">
                <a16:creationId xmlns:a16="http://schemas.microsoft.com/office/drawing/2014/main" id="{29F08386-C00C-4063-A3DF-39F77A3C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项目积累概览</a:t>
            </a:r>
          </a:p>
        </p:txBody>
      </p:sp>
      <p:sp>
        <p:nvSpPr>
          <p:cNvPr id="23" name="project-stat">
            <a:extLst xmlns:a="http://schemas.openxmlformats.org/drawingml/2006/main">
              <a:ext uri="{FF2B5EF4-FFF2-40B4-BE49-F238E27FC236}">
                <a16:creationId xmlns:a16="http://schemas.microsoft.com/office/drawing/2014/main" id="{13FBE021-DC4B-420D-89DA-F25F2E6C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76625"/>
            <a:ext cx="1257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F6BFF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4F6BFF"/>
                </a:solidFill>
                <a:latin typeface="微软雅黑"/>
                <a:ea typeface="微软雅黑"/>
                <a:cs typeface="微软雅黑"/>
              </a:rPr>
              <a:t>8 项</a:t>
            </a:r>
          </a:p>
        </p:txBody>
      </p:sp>
      <p:sp>
        <p:nvSpPr>
          <p:cNvPr id="24" name="project-stat-label">
            <a:extLst xmlns:a="http://schemas.openxmlformats.org/drawingml/2006/main">
              <a:ext uri="{FF2B5EF4-FFF2-40B4-BE49-F238E27FC236}">
                <a16:creationId xmlns:a16="http://schemas.microsoft.com/office/drawing/2014/main" id="{540E89C5-7E5B-4B93-AF0B-6F5CF346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90925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2 项场景机会 + 6 项能力项目</a:t>
            </a:r>
          </a:p>
        </p:txBody>
      </p:sp>
      <p:sp>
        <p:nvSpPr>
          <p:cNvPr id="25" name="project-themes">
            <a:extLst xmlns:a="http://schemas.openxmlformats.org/drawingml/2006/main">
              <a:ext uri="{FF2B5EF4-FFF2-40B4-BE49-F238E27FC236}">
                <a16:creationId xmlns:a16="http://schemas.microsoft.com/office/drawing/2014/main" id="{9AA7E832-7435-4631-B618-7B869433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95750"/>
            <a:ext cx="4305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覆盖地图平台、赛事互动、文旅内容、教育培训、企业展示、技术视频与 AIGC 学习。</a:t>
            </a:r>
          </a:p>
        </p:txBody>
      </p:sp>
      <p:sp>
        <p:nvSpPr>
          <p:cNvPr id="26" name="project-detail-note">
            <a:extLst xmlns:a="http://schemas.openxmlformats.org/drawingml/2006/main">
              <a:ext uri="{FF2B5EF4-FFF2-40B4-BE49-F238E27FC236}">
                <a16:creationId xmlns:a16="http://schemas.microsoft.com/office/drawing/2014/main" id="{47207A88-0965-4500-8B20-5ABEEE27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7680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完整项目说明见后两页：逐项呈现问题、能力与成果。</a:t>
            </a:r>
          </a:p>
        </p:txBody>
      </p:sp>
      <p:sp>
        <p:nvSpPr>
          <p:cNvPr id="27" name="project-link-label">
            <a:extLst xmlns:a="http://schemas.openxmlformats.org/drawingml/2006/main">
              <a:ext uri="{FF2B5EF4-FFF2-40B4-BE49-F238E27FC236}">
                <a16:creationId xmlns:a16="http://schemas.microsoft.com/office/drawing/2014/main" id="{DE9BBBE6-A53C-459E-BB72-516FC315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600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E879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7E879B"/>
                </a:solidFill>
                <a:latin typeface="微软雅黑"/>
                <a:ea typeface="微软雅黑"/>
                <a:cs typeface="微软雅黑"/>
              </a:rPr>
              <a:t>冠军项目</a:t>
            </a:r>
          </a:p>
        </p:txBody>
      </p:sp>
      <p:sp>
        <p:nvSpPr>
          <p:cNvPr id="28" name="project-link">
            <a:extLst xmlns:a="http://schemas.openxmlformats.org/drawingml/2006/main">
              <a:ext uri="{FF2B5EF4-FFF2-40B4-BE49-F238E27FC236}">
                <a16:creationId xmlns:a16="http://schemas.microsoft.com/office/drawing/2014/main" id="{9C752E6F-C195-4AD3-BA5C-B3AAAF38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84835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F6B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4F6BFF"/>
                </a:solidFill>
                <a:latin typeface="微软雅黑"/>
                <a:ea typeface="微软雅黑"/>
                <a:cs typeface="微软雅黑"/>
              </a:rPr>
              <a:t>github.com/paofuxiaomiao/escape-lev0</a:t>
            </a:r>
          </a:p>
        </p:txBody>
      </p:sp>
      <p:sp>
        <p:nvSpPr>
          <p:cNvPr id="29" name="portfolio-close">
            <a:extLst xmlns:a="http://schemas.openxmlformats.org/drawingml/2006/main">
              <a:ext uri="{FF2B5EF4-FFF2-40B4-BE49-F238E27FC236}">
                <a16:creationId xmlns:a16="http://schemas.microsoft.com/office/drawing/2014/main" id="{F2271E42-809F-4CF7-9A1A-70BBC918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191250"/>
            <a:ext cx="430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rPr>
              <a:t>真实项目积累为 LivePR 的场景抽象与内容表达提供基础。</a:t>
            </a:r>
          </a:p>
        </p:txBody>
      </p:sp>
    </p:spTree>
    <p:extLst>
      <p:ext uri="{BB962C8B-B14F-4D97-AF65-F5344CB8AC3E}">
        <p14:creationId xmlns:p14="http://schemas.microsoft.com/office/powerpoint/2010/main" val="95290346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C131529-DF0F-4221-8E07-E93BFE23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八</a:t>
            </a: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章 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A95528A-751F-4542-B94B-2346981F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地图、赛事与文旅项目落地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opc-fde-accent">
            <a:extLst xmlns:a="http://schemas.openxmlformats.org/drawingml/2006/main">
              <a:ext uri="{FF2B5EF4-FFF2-40B4-BE49-F238E27FC236}">
                <a16:creationId xmlns:a16="http://schemas.microsoft.com/office/drawing/2014/main" id="{E337478A-2DD5-4319-9ACC-EA73A1C9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381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pc-fde-category">
            <a:extLst xmlns:a="http://schemas.openxmlformats.org/drawingml/2006/main">
              <a:ext uri="{FF2B5EF4-FFF2-40B4-BE49-F238E27FC236}">
                <a16:creationId xmlns:a16="http://schemas.microsoft.com/office/drawing/2014/main" id="{A7269723-86C0-4551-A6A6-D8BB7EA6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场景机会｜未来产业 · 文化+科技</a:t>
            </a:r>
          </a:p>
        </p:txBody>
      </p:sp>
      <p:sp>
        <p:nvSpPr>
          <p:cNvPr id="6" name="opc-fde-title">
            <a:extLst xmlns:a="http://schemas.openxmlformats.org/drawingml/2006/main">
              <a:ext uri="{FF2B5EF4-FFF2-40B4-BE49-F238E27FC236}">
                <a16:creationId xmlns:a16="http://schemas.microsoft.com/office/drawing/2014/main" id="{60B09856-718D-47EC-9BF6-FCA374F5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OPC/FDE个人能力地图与成果评价平台</a:t>
            </a:r>
          </a:p>
        </p:txBody>
      </p:sp>
      <p:sp>
        <p:nvSpPr>
          <p:cNvPr id="7" name="opc-fde-summary">
            <a:extLst xmlns:a="http://schemas.openxmlformats.org/drawingml/2006/main">
              <a:ext uri="{FF2B5EF4-FFF2-40B4-BE49-F238E27FC236}">
                <a16:creationId xmlns:a16="http://schemas.microsoft.com/office/drawing/2014/main" id="{478A5FBD-92D5-4140-BE7F-ACA748D7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把“人在哪里、能做什么、交付如何”统一到地图与证据档案。</a:t>
            </a:r>
          </a:p>
        </p:txBody>
      </p:sp>
      <p:sp>
        <p:nvSpPr>
          <p:cNvPr id="8" name="opc-fde-capability">
            <a:extLst xmlns:a="http://schemas.openxmlformats.org/drawingml/2006/main">
              <a:ext uri="{FF2B5EF4-FFF2-40B4-BE49-F238E27FC236}">
                <a16:creationId xmlns:a16="http://schemas.microsoft.com/office/drawing/2014/main" id="{9404398E-F9DF-45AE-BF18-191BBFD6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rPr>
              <a:t>所在地/服务范围地图｜能力标签画像｜FDE成果评分与证据</a:t>
            </a:r>
          </a:p>
        </p:txBody>
      </p:sp>
      <p:sp>
        <p:nvSpPr>
          <p:cNvPr id="9" name="opc-fde-status">
            <a:extLst xmlns:a="http://schemas.openxmlformats.org/drawingml/2006/main">
              <a:ext uri="{FF2B5EF4-FFF2-40B4-BE49-F238E27FC236}">
                <a16:creationId xmlns:a16="http://schemas.microsoft.com/office/drawing/2014/main" id="{9E98CA99-28D0-4F01-BCBD-48D0BF5D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rPr>
              <a:t>基础：OPC社区1800+成员、7个微信社群；拟联合研发、社区共建与企业试点。</a:t>
            </a:r>
          </a:p>
        </p:txBody>
      </p:sp>
      <p:sp>
        <p:nvSpPr>
          <p:cNvPr id="10" name="agri-map-accent">
            <a:extLst xmlns:a="http://schemas.openxmlformats.org/drawingml/2006/main">
              <a:ext uri="{FF2B5EF4-FFF2-40B4-BE49-F238E27FC236}">
                <a16:creationId xmlns:a16="http://schemas.microsoft.com/office/drawing/2014/main" id="{051CE570-A22F-4C20-9BE2-B11D2B62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381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6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ri-map-category">
            <a:extLst xmlns:a="http://schemas.openxmlformats.org/drawingml/2006/main">
              <a:ext uri="{FF2B5EF4-FFF2-40B4-BE49-F238E27FC236}">
                <a16:creationId xmlns:a16="http://schemas.microsoft.com/office/drawing/2014/main" id="{D4D5AF97-0B2D-404D-88E1-7FAA6AE5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04950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A66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5A66A"/>
                </a:solidFill>
                <a:latin typeface="微软雅黑"/>
                <a:ea typeface="微软雅黑"/>
                <a:cs typeface="微软雅黑"/>
              </a:rPr>
              <a:t>能力项目｜文化+科技 · 现代农业</a:t>
            </a:r>
          </a:p>
        </p:txBody>
      </p:sp>
      <p:sp>
        <p:nvSpPr>
          <p:cNvPr id="12" name="agri-map-title">
            <a:extLst xmlns:a="http://schemas.openxmlformats.org/drawingml/2006/main">
              <a:ext uri="{FF2B5EF4-FFF2-40B4-BE49-F238E27FC236}">
                <a16:creationId xmlns:a16="http://schemas.microsoft.com/office/drawing/2014/main" id="{A132D434-DE34-4F61-A19C-9F180B54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湖南省农耕文化地图</a:t>
            </a:r>
          </a:p>
        </p:txBody>
      </p:sp>
      <p:sp>
        <p:nvSpPr>
          <p:cNvPr id="13" name="agri-map-summary">
            <a:extLst xmlns:a="http://schemas.openxmlformats.org/drawingml/2006/main">
              <a:ext uri="{FF2B5EF4-FFF2-40B4-BE49-F238E27FC236}">
                <a16:creationId xmlns:a16="http://schemas.microsoft.com/office/drawing/2014/main" id="{9DB8B4ED-F490-4616-90E1-F51EC925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以空间、线路、时间、文物、节气五个视角组织湖湘农耕文化。</a:t>
            </a:r>
          </a:p>
        </p:txBody>
      </p:sp>
      <p:sp>
        <p:nvSpPr>
          <p:cNvPr id="14" name="agri-map-capability">
            <a:extLst xmlns:a="http://schemas.openxmlformats.org/drawingml/2006/main">
              <a:ext uri="{FF2B5EF4-FFF2-40B4-BE49-F238E27FC236}">
                <a16:creationId xmlns:a16="http://schemas.microsoft.com/office/drawing/2014/main" id="{6A1E4446-505A-45E2-A61E-C7F3ECB5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rPr>
              <a:t>128处点位｜3条主题线路｜24件文物｜24个节气</a:t>
            </a:r>
          </a:p>
        </p:txBody>
      </p:sp>
      <p:sp>
        <p:nvSpPr>
          <p:cNvPr id="15" name="agri-map-status">
            <a:extLst xmlns:a="http://schemas.openxmlformats.org/drawingml/2006/main">
              <a:ext uri="{FF2B5EF4-FFF2-40B4-BE49-F238E27FC236}">
                <a16:creationId xmlns:a16="http://schemas.microsoft.com/office/drawing/2014/main" id="{69F19257-2FCC-41F4-94DF-1BAF395B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62275"/>
            <a:ext cx="516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rPr>
              <a:t>已上线PC网页与20页指南，可用于文化检索、教育、导览与农文旅展示。</a:t>
            </a:r>
          </a:p>
        </p:txBody>
      </p:sp>
      <p:sp>
        <p:nvSpPr>
          <p:cNvPr id="16" name="project-row-rule-left">
            <a:extLst xmlns:a="http://schemas.openxmlformats.org/drawingml/2006/main">
              <a:ext uri="{FF2B5EF4-FFF2-40B4-BE49-F238E27FC236}">
                <a16:creationId xmlns:a16="http://schemas.microsoft.com/office/drawing/2014/main" id="{121C048B-8E32-42AD-A487-30C10F1A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ject-row-rule-right">
            <a:extLst xmlns:a="http://schemas.openxmlformats.org/drawingml/2006/main">
              <a:ext uri="{FF2B5EF4-FFF2-40B4-BE49-F238E27FC236}">
                <a16:creationId xmlns:a16="http://schemas.microsoft.com/office/drawing/2014/main" id="{C4DA975D-E30A-45BA-8C6B-9CA6BA42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531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xiangchao-map-accent">
            <a:extLst xmlns:a="http://schemas.openxmlformats.org/drawingml/2006/main">
              <a:ext uri="{FF2B5EF4-FFF2-40B4-BE49-F238E27FC236}">
                <a16:creationId xmlns:a16="http://schemas.microsoft.com/office/drawing/2014/main" id="{44A3D600-DD94-4092-B083-D4C6E873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381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xiangchao-map-category">
            <a:extLst xmlns:a="http://schemas.openxmlformats.org/drawingml/2006/main">
              <a:ext uri="{FF2B5EF4-FFF2-40B4-BE49-F238E27FC236}">
                <a16:creationId xmlns:a16="http://schemas.microsoft.com/office/drawing/2014/main" id="{BCA99711-18D7-4A9F-936F-94895961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6B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6BFF"/>
                </a:solidFill>
                <a:latin typeface="微软雅黑"/>
                <a:ea typeface="微软雅黑"/>
                <a:cs typeface="微软雅黑"/>
              </a:rPr>
              <a:t>能力项目｜重大活动和项目</a:t>
            </a:r>
          </a:p>
        </p:txBody>
      </p:sp>
      <p:sp>
        <p:nvSpPr>
          <p:cNvPr id="20" name="xiangchao-map-title">
            <a:extLst xmlns:a="http://schemas.openxmlformats.org/drawingml/2006/main">
              <a:ext uri="{FF2B5EF4-FFF2-40B4-BE49-F238E27FC236}">
                <a16:creationId xmlns:a16="http://schemas.microsoft.com/office/drawing/2014/main" id="{1DBF66CC-B4F1-4D8A-B9BD-DEA695B5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湘超数字地图</a:t>
            </a:r>
          </a:p>
        </p:txBody>
      </p:sp>
      <p:sp>
        <p:nvSpPr>
          <p:cNvPr id="21" name="xiangchao-map-summary">
            <a:extLst xmlns:a="http://schemas.openxmlformats.org/drawingml/2006/main">
              <a:ext uri="{FF2B5EF4-FFF2-40B4-BE49-F238E27FC236}">
                <a16:creationId xmlns:a16="http://schemas.microsoft.com/office/drawing/2014/main" id="{8893A6BF-41AD-4448-93BF-9474404E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把14支城市球队、主场与赛事互动汇聚到移动端地图。</a:t>
            </a:r>
          </a:p>
        </p:txBody>
      </p:sp>
      <p:sp>
        <p:nvSpPr>
          <p:cNvPr id="22" name="xiangchao-map-capability">
            <a:extLst xmlns:a="http://schemas.openxmlformats.org/drawingml/2006/main">
              <a:ext uri="{FF2B5EF4-FFF2-40B4-BE49-F238E27FC236}">
                <a16:creationId xmlns:a16="http://schemas.microsoft.com/office/drawing/2014/main" id="{27C8A3BA-37A6-40B3-968D-51DECBF2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rPr>
              <a:t>三种地图视觉｜城市/球队联动｜赛程战报榜单｜投票打气</a:t>
            </a:r>
          </a:p>
        </p:txBody>
      </p:sp>
      <p:sp>
        <p:nvSpPr>
          <p:cNvPr id="23" name="xiangchao-map-status">
            <a:extLst xmlns:a="http://schemas.openxmlformats.org/drawingml/2006/main">
              <a:ext uri="{FF2B5EF4-FFF2-40B4-BE49-F238E27FC236}">
                <a16:creationId xmlns:a16="http://schemas.microsoft.com/office/drawing/2014/main" id="{AF2C5D2A-908F-4429-9A3F-3D4800F6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rPr>
              <a:t>已有完整移动端路径和16页体验说明，服务赛事导览、球迷互动与湖湘文化传播。</a:t>
            </a:r>
          </a:p>
        </p:txBody>
      </p:sp>
      <p:sp>
        <p:nvSpPr>
          <p:cNvPr id="24" name="ai-travel-accent">
            <a:extLst xmlns:a="http://schemas.openxmlformats.org/drawingml/2006/main">
              <a:ext uri="{FF2B5EF4-FFF2-40B4-BE49-F238E27FC236}">
                <a16:creationId xmlns:a16="http://schemas.microsoft.com/office/drawing/2014/main" id="{6DD50DE9-7FF8-407A-8614-72B4CF30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9525"/>
            <a:ext cx="381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i-travel-category">
            <a:extLst xmlns:a="http://schemas.openxmlformats.org/drawingml/2006/main">
              <a:ext uri="{FF2B5EF4-FFF2-40B4-BE49-F238E27FC236}">
                <a16:creationId xmlns:a16="http://schemas.microsoft.com/office/drawing/2014/main" id="{36797D71-0977-4331-9E59-1B9B5377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00475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5CE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7C5CE5"/>
                </a:solidFill>
                <a:latin typeface="微软雅黑"/>
                <a:ea typeface="微软雅黑"/>
                <a:cs typeface="微软雅黑"/>
              </a:rPr>
              <a:t>场景机会｜文化+科技</a:t>
            </a:r>
          </a:p>
        </p:txBody>
      </p:sp>
      <p:sp>
        <p:nvSpPr>
          <p:cNvPr id="26" name="ai-travel-title">
            <a:extLst xmlns:a="http://schemas.openxmlformats.org/drawingml/2006/main">
              <a:ext uri="{FF2B5EF4-FFF2-40B4-BE49-F238E27FC236}">
                <a16:creationId xmlns:a16="http://schemas.microsoft.com/office/drawing/2014/main" id="{F4418B9E-4422-48E1-8706-5F12EC56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29075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AI旅拍内容优选与旅行纪念册制作</a:t>
            </a:r>
          </a:p>
        </p:txBody>
      </p:sp>
      <p:sp>
        <p:nvSpPr>
          <p:cNvPr id="27" name="ai-travel-summary">
            <a:extLst xmlns:a="http://schemas.openxmlformats.org/drawingml/2006/main">
              <a:ext uri="{FF2B5EF4-FFF2-40B4-BE49-F238E27FC236}">
                <a16:creationId xmlns:a16="http://schemas.microsoft.com/office/drawing/2014/main" id="{1D83F04A-6964-4888-A5B9-C3D15644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6245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从海量旅行视频中自动选片、修复、包装并生成可印刷纪念册。</a:t>
            </a:r>
          </a:p>
        </p:txBody>
      </p:sp>
      <p:sp>
        <p:nvSpPr>
          <p:cNvPr id="28" name="ai-travel-capability">
            <a:extLst xmlns:a="http://schemas.openxmlformats.org/drawingml/2006/main">
              <a:ext uri="{FF2B5EF4-FFF2-40B4-BE49-F238E27FC236}">
                <a16:creationId xmlns:a16="http://schemas.microsoft.com/office/drawing/2014/main" id="{D5026D66-337C-4603-B12E-5806F930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0125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rPr>
              <a:t>画面评分｜人物与光线修复｜三种视觉Skill｜高清输出</a:t>
            </a:r>
          </a:p>
        </p:txBody>
      </p:sp>
      <p:sp>
        <p:nvSpPr>
          <p:cNvPr id="29" name="ai-travel-status">
            <a:extLst xmlns:a="http://schemas.openxmlformats.org/drawingml/2006/main">
              <a:ext uri="{FF2B5EF4-FFF2-40B4-BE49-F238E27FC236}">
                <a16:creationId xmlns:a16="http://schemas.microsoft.com/office/drawing/2014/main" id="{6257336A-FB28-42ED-B96E-556AB9F6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57800"/>
            <a:ext cx="516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rPr>
              <a:t>真实景德镇素材已跑通5个时刻、15张高清成品与交付包，可开展景区/旅行社试点。</a:t>
            </a:r>
          </a:p>
        </p:txBody>
      </p:sp>
      <p:sp>
        <p:nvSpPr>
          <p:cNvPr id="30" name="project-map-takeaway">
            <a:extLst xmlns:a="http://schemas.openxmlformats.org/drawingml/2006/main">
              <a:ext uri="{FF2B5EF4-FFF2-40B4-BE49-F238E27FC236}">
                <a16:creationId xmlns:a16="http://schemas.microsoft.com/office/drawing/2014/main" id="{15A9BAB9-11EC-4738-80D5-CAD12186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1010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9525">
            <a:solidFill>
              <a:srgbClr val="1B1F3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从资源地图、赛事互动到文旅内容，团队具备真实场景抽象与可视化交付能力。</a:t>
            </a:r>
          </a:p>
        </p:txBody>
      </p:sp>
    </p:spTree>
    <p:extLst>
      <p:ext uri="{BB962C8B-B14F-4D97-AF65-F5344CB8AC3E}">
        <p14:creationId xmlns:p14="http://schemas.microsoft.com/office/powerpoint/2010/main" val="95290346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C131529-DF0F-4221-8E07-E93BFE23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</a:t>
            </a: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八</a:t>
            </a:r>
            <a:r>
              <a:rPr sz="1200" b="1" spc="100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章 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A95528A-751F-4542-B94B-2346981F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AIGC内容生产与交互工具</a:t>
            </a:r>
            <a:endParaRPr sz="2900" b="1">
              <a:solidFill>
                <a:srgbClr val="1B1F3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workbuddy-accent">
            <a:extLst xmlns:a="http://schemas.openxmlformats.org/drawingml/2006/main">
              <a:ext uri="{FF2B5EF4-FFF2-40B4-BE49-F238E27FC236}">
                <a16:creationId xmlns:a16="http://schemas.microsoft.com/office/drawing/2014/main" id="{5EC37776-4940-4592-8D7C-0434F44E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381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orkbuddy-category">
            <a:extLst xmlns:a="http://schemas.openxmlformats.org/drawingml/2006/main">
              <a:ext uri="{FF2B5EF4-FFF2-40B4-BE49-F238E27FC236}">
                <a16:creationId xmlns:a16="http://schemas.microsoft.com/office/drawing/2014/main" id="{26417FD5-54DC-46C2-AFB6-5A4095C2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6B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6BFF"/>
                </a:solidFill>
                <a:latin typeface="微软雅黑"/>
                <a:ea typeface="微软雅黑"/>
                <a:cs typeface="微软雅黑"/>
              </a:rPr>
              <a:t>能力项目｜教育培训</a:t>
            </a:r>
          </a:p>
        </p:txBody>
      </p:sp>
      <p:sp>
        <p:nvSpPr>
          <p:cNvPr id="6" name="workbuddy-title">
            <a:extLst xmlns:a="http://schemas.openxmlformats.org/drawingml/2006/main">
              <a:ext uri="{FF2B5EF4-FFF2-40B4-BE49-F238E27FC236}">
                <a16:creationId xmlns:a16="http://schemas.microsoft.com/office/drawing/2014/main" id="{101BA378-F23F-4DBD-B3BA-F72F85DA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WorkBuddy功能演示与新手训练平台</a:t>
            </a:r>
          </a:p>
        </p:txBody>
      </p:sp>
      <p:sp>
        <p:nvSpPr>
          <p:cNvPr id="7" name="workbuddy-summary">
            <a:extLst xmlns:a="http://schemas.openxmlformats.org/drawingml/2006/main">
              <a:ext uri="{FF2B5EF4-FFF2-40B4-BE49-F238E27FC236}">
                <a16:creationId xmlns:a16="http://schemas.microsoft.com/office/drawing/2014/main" id="{592E9953-B4F2-46C0-91D5-61C76A79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66925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在不碰真实文件、不消耗模型额度的环境中完成工具上手与安全训练。</a:t>
            </a:r>
          </a:p>
        </p:txBody>
      </p:sp>
      <p:sp>
        <p:nvSpPr>
          <p:cNvPr id="8" name="workbuddy-capability">
            <a:extLst xmlns:a="http://schemas.openxmlformats.org/drawingml/2006/main">
              <a:ext uri="{FF2B5EF4-FFF2-40B4-BE49-F238E27FC236}">
                <a16:creationId xmlns:a16="http://schemas.microsoft.com/office/drawing/2014/main" id="{998F4522-290F-4618-96BD-79DCFCFE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rPr>
              <a:t>高保真交互｜模拟任务流｜新手/教师双指南｜本地进度</a:t>
            </a:r>
          </a:p>
        </p:txBody>
      </p:sp>
      <p:sp>
        <p:nvSpPr>
          <p:cNvPr id="9" name="workbuddy-status">
            <a:extLst xmlns:a="http://schemas.openxmlformats.org/drawingml/2006/main">
              <a:ext uri="{FF2B5EF4-FFF2-40B4-BE49-F238E27FC236}">
                <a16:creationId xmlns:a16="http://schemas.microsoft.com/office/drawing/2014/main" id="{CD130A37-C806-4CD2-B786-71C16D50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rPr>
              <a:t>React/TypeScript Demo已公开部署，适合学校培训、企业导入与展会演示。</a:t>
            </a:r>
          </a:p>
        </p:txBody>
      </p:sp>
      <p:sp>
        <p:nvSpPr>
          <p:cNvPr id="10" name="chemical-video-accent">
            <a:extLst xmlns:a="http://schemas.openxmlformats.org/drawingml/2006/main">
              <a:ext uri="{FF2B5EF4-FFF2-40B4-BE49-F238E27FC236}">
                <a16:creationId xmlns:a16="http://schemas.microsoft.com/office/drawing/2014/main" id="{BA58019B-9125-4054-B522-BF12EB43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381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B6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hemical-video-category">
            <a:extLst xmlns:a="http://schemas.openxmlformats.org/drawingml/2006/main">
              <a:ext uri="{FF2B5EF4-FFF2-40B4-BE49-F238E27FC236}">
                <a16:creationId xmlns:a16="http://schemas.microsoft.com/office/drawing/2014/main" id="{771A4524-A321-407B-8863-3F0661E4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04950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B6C7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23B6C7"/>
                </a:solidFill>
                <a:latin typeface="微软雅黑"/>
                <a:ea typeface="微软雅黑"/>
                <a:cs typeface="微软雅黑"/>
              </a:rPr>
              <a:t>能力项目｜先进制造</a:t>
            </a:r>
          </a:p>
        </p:txBody>
      </p:sp>
      <p:sp>
        <p:nvSpPr>
          <p:cNvPr id="12" name="chemical-video-title">
            <a:extLst xmlns:a="http://schemas.openxmlformats.org/drawingml/2006/main">
              <a:ext uri="{FF2B5EF4-FFF2-40B4-BE49-F238E27FC236}">
                <a16:creationId xmlns:a16="http://schemas.microsoft.com/office/drawing/2014/main" id="{52672792-C69B-40E3-A2D4-95B27711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33550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化工流程可视化项目</a:t>
            </a:r>
          </a:p>
        </p:txBody>
      </p:sp>
      <p:sp>
        <p:nvSpPr>
          <p:cNvPr id="13" name="chemical-video-summary">
            <a:extLst xmlns:a="http://schemas.openxmlformats.org/drawingml/2006/main">
              <a:ext uri="{FF2B5EF4-FFF2-40B4-BE49-F238E27FC236}">
                <a16:creationId xmlns:a16="http://schemas.microsoft.com/office/drawing/2014/main" id="{F2D2DAFD-B678-4D3E-8D41-43362C43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把DOCX流程资料转成审美统一、镜头可控的技术视频。</a:t>
            </a:r>
          </a:p>
        </p:txBody>
      </p:sp>
      <p:sp>
        <p:nvSpPr>
          <p:cNvPr id="14" name="chemical-video-capability">
            <a:extLst xmlns:a="http://schemas.openxmlformats.org/drawingml/2006/main">
              <a:ext uri="{FF2B5EF4-FFF2-40B4-BE49-F238E27FC236}">
                <a16:creationId xmlns:a16="http://schemas.microsoft.com/office/drawing/2014/main" id="{3EDE0F6C-3BCC-4EC8-BAF4-EA5C7745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rPr>
              <a:t>文档→脚本/分镜｜Image 2关键帧｜HyperFrames镜头｜旁白MP4</a:t>
            </a:r>
          </a:p>
        </p:txBody>
      </p:sp>
      <p:sp>
        <p:nvSpPr>
          <p:cNvPr id="15" name="chemical-video-status">
            <a:extLst xmlns:a="http://schemas.openxmlformats.org/drawingml/2006/main">
              <a:ext uri="{FF2B5EF4-FFF2-40B4-BE49-F238E27FC236}">
                <a16:creationId xmlns:a16="http://schemas.microsoft.com/office/drawing/2014/main" id="{5D72DC73-33BE-469E-AB7C-2C1090A4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62275"/>
            <a:ext cx="516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rPr>
              <a:t>已形成污水处理完整视频、白底重制、多镜头片段与检查素材。</a:t>
            </a:r>
          </a:p>
        </p:txBody>
      </p:sp>
      <p:sp>
        <p:nvSpPr>
          <p:cNvPr id="16" name="project-aigc-row-rule-left">
            <a:extLst xmlns:a="http://schemas.openxmlformats.org/drawingml/2006/main">
              <a:ext uri="{FF2B5EF4-FFF2-40B4-BE49-F238E27FC236}">
                <a16:creationId xmlns:a16="http://schemas.microsoft.com/office/drawing/2014/main" id="{B3EC5FF6-DFDD-4142-A39F-67A1885E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ject-aigc-row-rule-right">
            <a:extLst xmlns:a="http://schemas.openxmlformats.org/drawingml/2006/main">
              <a:ext uri="{FF2B5EF4-FFF2-40B4-BE49-F238E27FC236}">
                <a16:creationId xmlns:a16="http://schemas.microsoft.com/office/drawing/2014/main" id="{B3555F9B-2D7D-404D-9D26-9B0C9069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5314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1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nterprise-hub-accent">
            <a:extLst xmlns:a="http://schemas.openxmlformats.org/drawingml/2006/main">
              <a:ext uri="{FF2B5EF4-FFF2-40B4-BE49-F238E27FC236}">
                <a16:creationId xmlns:a16="http://schemas.microsoft.com/office/drawing/2014/main" id="{B20EDC72-7D63-4C24-BEAC-1726F76C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381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nterprise-hub-category">
            <a:extLst xmlns:a="http://schemas.openxmlformats.org/drawingml/2006/main">
              <a:ext uri="{FF2B5EF4-FFF2-40B4-BE49-F238E27FC236}">
                <a16:creationId xmlns:a16="http://schemas.microsoft.com/office/drawing/2014/main" id="{C52E0E56-9825-4175-A9F9-613CE176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5067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能力项目｜文化+科技</a:t>
            </a:r>
          </a:p>
        </p:txBody>
      </p:sp>
      <p:sp>
        <p:nvSpPr>
          <p:cNvPr id="20" name="enterprise-hub-title">
            <a:extLst xmlns:a="http://schemas.openxmlformats.org/drawingml/2006/main">
              <a:ext uri="{FF2B5EF4-FFF2-40B4-BE49-F238E27FC236}">
                <a16:creationId xmlns:a16="http://schemas.microsoft.com/office/drawing/2014/main" id="{0FA74346-E123-4888-8ABB-FC195018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29075"/>
            <a:ext cx="506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企展中枢：企业展示素材智能编排平台</a:t>
            </a:r>
          </a:p>
        </p:txBody>
      </p:sp>
      <p:sp>
        <p:nvSpPr>
          <p:cNvPr id="21" name="enterprise-hub-summary">
            <a:extLst xmlns:a="http://schemas.openxmlformats.org/drawingml/2006/main">
              <a:ext uri="{FF2B5EF4-FFF2-40B4-BE49-F238E27FC236}">
                <a16:creationId xmlns:a16="http://schemas.microsoft.com/office/drawing/2014/main" id="{C0D2F866-5D31-4295-A76F-EDC7108B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把PPT、MD、截图和专利材料编排成可编辑、可微信访问的企业展示。</a:t>
            </a:r>
          </a:p>
        </p:txBody>
      </p:sp>
      <p:sp>
        <p:nvSpPr>
          <p:cNvPr id="22" name="enterprise-hub-capability">
            <a:extLst xmlns:a="http://schemas.openxmlformats.org/drawingml/2006/main">
              <a:ext uri="{FF2B5EF4-FFF2-40B4-BE49-F238E27FC236}">
                <a16:creationId xmlns:a16="http://schemas.microsoft.com/office/drawing/2014/main" id="{C5CFEF57-67C2-4FE4-91DD-3E067C6A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5067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rPr>
              <a:t>多源解析｜OCR/修图/素材补全｜HTML/PPT模板化｜质量闸门</a:t>
            </a:r>
          </a:p>
        </p:txBody>
      </p:sp>
      <p:sp>
        <p:nvSpPr>
          <p:cNvPr id="23" name="enterprise-hub-status">
            <a:extLst xmlns:a="http://schemas.openxmlformats.org/drawingml/2006/main">
              <a:ext uri="{FF2B5EF4-FFF2-40B4-BE49-F238E27FC236}">
                <a16:creationId xmlns:a16="http://schemas.microsoft.com/office/drawing/2014/main" id="{4FB267B4-13C3-488A-A091-973AF8FA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rPr>
              <a:t>Demo/MVP已完成并有真实合作意向，适合路演、投标、售前与多客户复制。</a:t>
            </a:r>
          </a:p>
        </p:txBody>
      </p:sp>
      <p:sp>
        <p:nvSpPr>
          <p:cNvPr id="24" name="prompt-canvas-accent">
            <a:extLst xmlns:a="http://schemas.openxmlformats.org/drawingml/2006/main">
              <a:ext uri="{FF2B5EF4-FFF2-40B4-BE49-F238E27FC236}">
                <a16:creationId xmlns:a16="http://schemas.microsoft.com/office/drawing/2014/main" id="{500B9547-0F33-444E-BA91-FCAF2394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19525"/>
            <a:ext cx="381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rompt-canvas-category">
            <a:extLst xmlns:a="http://schemas.openxmlformats.org/drawingml/2006/main">
              <a:ext uri="{FF2B5EF4-FFF2-40B4-BE49-F238E27FC236}">
                <a16:creationId xmlns:a16="http://schemas.microsoft.com/office/drawing/2014/main" id="{4B43888F-0CBD-4443-9E97-7FD4D60C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00475"/>
            <a:ext cx="516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C5CE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7C5CE5"/>
                </a:solidFill>
                <a:latin typeface="微软雅黑"/>
                <a:ea typeface="微软雅黑"/>
                <a:cs typeface="微软雅黑"/>
              </a:rPr>
              <a:t>能力项目｜教育培训 · 文化+科技</a:t>
            </a:r>
          </a:p>
        </p:txBody>
      </p:sp>
      <p:sp>
        <p:nvSpPr>
          <p:cNvPr id="26" name="prompt-canvas-title">
            <a:extLst xmlns:a="http://schemas.openxmlformats.org/drawingml/2006/main">
              <a:ext uri="{FF2B5EF4-FFF2-40B4-BE49-F238E27FC236}">
                <a16:creationId xmlns:a16="http://schemas.microsoft.com/office/drawing/2014/main" id="{FA3429E9-AA4E-4F42-B609-C814BF49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29075"/>
            <a:ext cx="516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Prompt Canvas：结构化提示词同步学习工作台</a:t>
            </a:r>
          </a:p>
        </p:txBody>
      </p:sp>
      <p:sp>
        <p:nvSpPr>
          <p:cNvPr id="27" name="prompt-canvas-summary">
            <a:extLst xmlns:a="http://schemas.openxmlformats.org/drawingml/2006/main">
              <a:ext uri="{FF2B5EF4-FFF2-40B4-BE49-F238E27FC236}">
                <a16:creationId xmlns:a16="http://schemas.microsoft.com/office/drawing/2014/main" id="{05840906-C619-4B5A-9797-D400A5F8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6245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5A6F"/>
                </a:solidFill>
                <a:latin typeface="微软雅黑"/>
                <a:ea typeface="微软雅黑"/>
                <a:cs typeface="微软雅黑"/>
              </a:rPr>
              <a:t>让结构化提示词、时间码与生成视频在同一画布同步复盘。</a:t>
            </a:r>
          </a:p>
        </p:txBody>
      </p:sp>
      <p:sp>
        <p:nvSpPr>
          <p:cNvPr id="28" name="prompt-canvas-capability">
            <a:extLst xmlns:a="http://schemas.openxmlformats.org/drawingml/2006/main">
              <a:ext uri="{FF2B5EF4-FFF2-40B4-BE49-F238E27FC236}">
                <a16:creationId xmlns:a16="http://schemas.microsoft.com/office/drawing/2014/main" id="{0FD7CAB3-FD97-4F4D-BAA7-97F6C6B4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0125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0243A"/>
                </a:solidFill>
                <a:latin typeface="微软雅黑"/>
                <a:ea typeface="微软雅黑"/>
                <a:cs typeface="微软雅黑"/>
              </a:rPr>
              <a:t>JSON镜头Cue｜播放同步高亮｜差异检测｜提示词/视频导入</a:t>
            </a:r>
          </a:p>
        </p:txBody>
      </p:sp>
      <p:sp>
        <p:nvSpPr>
          <p:cNvPr id="29" name="prompt-canvas-status">
            <a:extLst xmlns:a="http://schemas.openxmlformats.org/drawingml/2006/main">
              <a:ext uri="{FF2B5EF4-FFF2-40B4-BE49-F238E27FC236}">
                <a16:creationId xmlns:a16="http://schemas.microsoft.com/office/drawing/2014/main" id="{AA76A5CE-64CE-46A2-8F83-7BA36381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57800"/>
            <a:ext cx="516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7E879B"/>
                </a:solidFill>
                <a:latin typeface="微软雅黑"/>
                <a:ea typeface="微软雅黑"/>
                <a:cs typeface="微软雅黑"/>
              </a:rPr>
              <a:t>4类叙事案例已接入并上线Vercel，适合AI视频教学、复盘与团队经验沉淀。</a:t>
            </a:r>
          </a:p>
        </p:txBody>
      </p:sp>
      <p:sp>
        <p:nvSpPr>
          <p:cNvPr id="30" name="project-aigc-takeaway">
            <a:extLst xmlns:a="http://schemas.openxmlformats.org/drawingml/2006/main">
              <a:ext uri="{FF2B5EF4-FFF2-40B4-BE49-F238E27FC236}">
                <a16:creationId xmlns:a16="http://schemas.microsoft.com/office/drawing/2014/main" id="{9881EAF7-9791-475F-8866-C8ABF17C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1010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B1F3B"/>
          </a:solidFill>
          <a:ln xmlns:a="http://schemas.openxmlformats.org/drawingml/2006/main" w="9525">
            <a:solidFill>
              <a:srgbClr val="1B1F3B"/>
            </a:solidFill>
            <a:prstDash val="solid"/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已覆盖培训、企业展示、技术视频与提示词学习，具备把 AIGC 能力沉淀为工具的经验。</a:t>
            </a:r>
          </a:p>
        </p:txBody>
      </p:sp>
    </p:spTree>
    <p:extLst>
      <p:ext uri="{BB962C8B-B14F-4D97-AF65-F5344CB8AC3E}">
        <p14:creationId xmlns:p14="http://schemas.microsoft.com/office/powerpoint/2010/main" val="9529034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2026-08-16T12:15:41.0370000Z</dcterms:created>
  <dcterms:modified xsi:type="dcterms:W3CDTF">2026-08-16T12:15:41.0370000Z</dcterms:modified>
</coreProperties>
</file>